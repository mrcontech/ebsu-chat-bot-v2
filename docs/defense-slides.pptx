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4418a58-1db9-d59b-360f-b7c68eef3448}">
          <p14:sldIdLst>
            <p14:sldId id="256"/>
            <p14:sldId id="257"/>
            <p14:sldId id="258"/>
          </p14:sldIdLst>
        </p14:section>
        <p14:section name="Method" id="{1d1f1755-4f80-15f2-cc3b-7d3c8553e77b}">
          <p14:sldIdLst>
            <p14:sldId id="259"/>
            <p14:sldId id="260"/>
            <p14:sldId id="261"/>
          </p14:sldIdLst>
        </p14:section>
        <p14:section name="System" id="{236e9bec-4356-bc4e-b420-9c62da399f28}">
          <p14:sldIdLst>
            <p14:sldId id="262"/>
            <p14:sldId id="263"/>
          </p14:sldIdLst>
        </p14:section>
        <p14:section name="Results" id="{56b6ea60-e0c8-5acf-f84f-20bc77f66972}">
          <p14:sldIdLst>
            <p14:sldId id="264"/>
          </p14:sldIdLst>
        </p14:section>
        <p14:section name="Conclusion" id="{b90039f8-e85d-0883-6104-f458f17b4ca2}">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5C544C"/>
                </a:solidFill>
                <a:latin typeface="+mn-lt"/>
              </a:defRPr>
            </a:pPr>
            <a:r>
              <a:rPr sz="1200" b="0" i="0" u="none" strike="noStrike">
                <a:solidFill>
                  <a:srgbClr val="5C544C"/>
                </a:solidFill>
                <a:latin typeface="+mn-lt"/>
              </a:rPr>
              <a:t>Example: “wetin be the putme fee”</a:t>
            </a:r>
          </a:p>
        </c:rich>
      </c:tx>
      <c:layout/>
      <c:overlay val="0"/>
    </c:title>
    <c:autoTitleDeleted val="0"/>
    <c:plotArea>
      <c:layout/>
      <c:barChart>
        <c:barDir val="bar"/>
        <c:grouping val="clustered"/>
        <c:varyColors val="0"/>
        <c:ser>
          <c:idx val="0"/>
          <c:order val="0"/>
          <c:tx>
            <c:strRef>
              <c:f>Sheet1!$B$1</c:f>
              <c:strCache>
                <c:ptCount val="1"/>
                <c:pt idx="0">
                  <c:v>Score</c:v>
                </c:pt>
              </c:strCache>
            </c:strRef>
          </c:tx>
          <c:spPr>
            <a:solidFill>
              <a:srgbClr val="C44A1F"/>
            </a:solidFill>
            <a:effectLst/>
          </c:spPr>
          <c:invertIfNegative val="0"/>
          <c:dLbls>
            <c:numFmt formatCode="0.000" sourceLinked="0"/>
            <c:txPr>
              <a:bodyPr/>
              <a:lstStyle/>
              <a:p>
                <a:pPr>
                  <a:defRPr b="0" i="0" strike="noStrike" sz="1200" u="none">
                    <a:solidFill>
                      <a:srgbClr val="24201C"/>
                    </a:solidFill>
                    <a:latin typeface="+mn-lt"/>
                  </a:defRPr>
                </a:pPr>
              </a:p>
            </c:txPr>
            <c:showLegendKey val="0"/>
            <c:showVal val="1"/>
            <c:showCatName val="0"/>
            <c:showSerName val="0"/>
            <c:showPercent val="0"/>
            <c:showBubbleSize val="0"/>
            <c:showLeaderLines val="0"/>
          </c:dLbls>
          <c:dPt>
            <c:idx val="0"/>
            <c:invertIfNegative val="0"/>
            <c:bubble3D val="0"/>
            <c:spPr>
              <a:solidFill>
                <a:srgbClr val="C44A1F"/>
              </a:solidFill>
              <a:effectLst/>
            </c:spPr>
          </c:dPt>
          <c:dPt>
            <c:idx val="1"/>
            <c:invertIfNegative val="0"/>
            <c:bubble3D val="0"/>
            <c:spPr>
              <a:solidFill>
                <a:srgbClr val="E8A68C"/>
              </a:solidFill>
              <a:effectLst/>
            </c:spPr>
          </c:dPt>
          <c:dPt>
            <c:idx val="2"/>
            <c:invertIfNegative val="0"/>
            <c:bubble3D val="0"/>
            <c:spPr>
              <a:solidFill>
                <a:srgbClr val="DCD2C5"/>
              </a:solidFill>
              <a:effectLst/>
            </c:spPr>
          </c:dPt>
          <c:dPt>
            <c:idx val="3"/>
            <c:invertIfNegative val="0"/>
            <c:bubble3D val="0"/>
            <c:spPr>
              <a:solidFill>
                <a:srgbClr val="DCD2C5"/>
              </a:solidFill>
              <a:effectLst/>
            </c:spPr>
          </c:dPt>
          <c:cat>
            <c:multiLvlStrRef>
              <c:f>Sheet1!$A$2:$A$5</c:f>
              <c:multiLvlStrCache>
                <c:ptCount val="4"/>
                <c:lvl>
                  <c:pt idx="0">
                    <c:v>D1  Post-UTME form fee</c:v>
                  </c:pt>
                  <c:pt idx="1">
                    <c:v>D2  Acceptance fee</c:v>
                  </c:pt>
                  <c:pt idx="2">
                    <c:v>D3  Post-UTME dates</c:v>
                  </c:pt>
                  <c:pt idx="3">
                    <c:v>D4  CS cut-off mark</c:v>
                  </c:pt>
                </c:lvl>
              </c:multiLvlStrCache>
            </c:multiLvlStrRef>
          </c:cat>
          <c:val>
            <c:numRef>
              <c:f>Sheet1!$B$2:$B$5</c:f>
              <c:numCache>
                <c:formatCode>General</c:formatCode>
                <c:ptCount val="4"/>
                <c:pt idx="0">
                  <c:v>0.741</c:v>
                </c:pt>
                <c:pt idx="1">
                  <c:v>0.404</c:v>
                </c:pt>
                <c:pt idx="2">
                  <c:v>0.279</c:v>
                </c:pt>
                <c:pt idx="3">
                  <c:v>0.011</c:v>
                </c:pt>
              </c:numCache>
            </c:numRef>
          </c:val>
        </c:ser>
        <c:dLbls>
          <c:numFmt formatCode="0.000" sourceLinked="0"/>
          <c:txPr>
            <a:bodyPr/>
            <a:lstStyle/>
            <a:p>
              <a:pPr>
                <a:defRPr b="0" i="0" strike="noStrike" sz="1200" u="none">
                  <a:solidFill>
                    <a:srgbClr val="24201C"/>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C544C"/>
                </a:solidFill>
                <a:latin typeface="+mn-lt"/>
              </a:defRPr>
            </a:pPr>
            <a:endParaRPr lang="en-US"/>
          </a:p>
        </c:txPr>
        <c:crossAx val="2094734552"/>
        <c:crosses val="autoZero"/>
        <c:auto val="1"/>
        <c:lblAlgn val="ctr"/>
        <c:noMultiLvlLbl val="1"/>
      </c:catAx>
      <c:valAx>
        <c:axId val="2094734552"/>
        <c:scaling>
          <c:orientation val="minMax"/>
          <c:max val="1"/>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5C544C"/>
                </a:solidFill>
                <a:latin typeface="+mn-lt"/>
              </a:defRPr>
            </a:pPr>
            <a:r>
              <a:rPr sz="1200" b="0" i="0" u="none" strike="noStrike">
                <a:solidFill>
                  <a:srgbClr val="5C544C"/>
                </a:solidFill>
                <a:latin typeface="+mn-lt"/>
              </a:rPr>
              <a:t>Accuracy by question style</a:t>
            </a:r>
          </a:p>
        </c:rich>
      </c:tx>
      <c:layout/>
      <c:overlay val="0"/>
    </c:title>
    <c:autoTitleDeleted val="0"/>
    <c:plotArea>
      <c:layout/>
      <c:barChart>
        <c:barDir val="col"/>
        <c:grouping val="clustered"/>
        <c:varyColors val="0"/>
        <c:ser>
          <c:idx val="0"/>
          <c:order val="0"/>
          <c:tx>
            <c:strRef>
              <c:f>Sheet1!$B$1</c:f>
              <c:strCache>
                <c:ptCount val="1"/>
                <c:pt idx="0">
                  <c:v>Accuracy</c:v>
                </c:pt>
              </c:strCache>
            </c:strRef>
          </c:tx>
          <c:spPr>
            <a:solidFill>
              <a:srgbClr val="C44A1F"/>
            </a:solidFill>
            <a:effectLst/>
          </c:spPr>
          <c:invertIfNegative val="0"/>
          <c:dLbls>
            <c:numFmt formatCode="0.0&quot;%&quot;" sourceLinked="0"/>
            <c:txPr>
              <a:bodyPr/>
              <a:lstStyle/>
              <a:p>
                <a:pPr>
                  <a:defRPr b="0" i="0" strike="noStrike" sz="1100" u="none">
                    <a:solidFill>
                      <a:srgbClr val="24201C"/>
                    </a:solidFill>
                    <a:latin typeface="+mn-lt"/>
                  </a:defRPr>
                </a:pPr>
              </a:p>
            </c:txPr>
            <c:showLegendKey val="0"/>
            <c:showVal val="1"/>
            <c:showCatName val="0"/>
            <c:showSerName val="0"/>
            <c:showPercent val="0"/>
            <c:showBubbleSize val="0"/>
            <c:showLeaderLines val="0"/>
          </c:dLbls>
          <c:cat>
            <c:multiLvlStrRef>
              <c:f>Sheet1!$A$2:$A$6</c:f>
              <c:multiLvlStrCache>
                <c:ptCount val="5"/>
                <c:lvl>
                  <c:pt idx="0">
                    <c:v>Formal</c:v>
                  </c:pt>
                  <c:pt idx="1">
                    <c:v>Pidgin</c:v>
                  </c:pt>
                  <c:pt idx="2">
                    <c:v>Short forms</c:v>
                  </c:pt>
                  <c:pt idx="3">
                    <c:v>Typos</c:v>
                  </c:pt>
                  <c:pt idx="4">
                    <c:v>Out of scope</c:v>
                  </c:pt>
                </c:lvl>
              </c:multiLvlStrCache>
            </c:multiLvlStrRef>
          </c:cat>
          <c:val>
            <c:numRef>
              <c:f>Sheet1!$B$2:$B$6</c:f>
              <c:numCache>
                <c:formatCode>General</c:formatCode>
                <c:ptCount val="5"/>
                <c:pt idx="0">
                  <c:v>93.8</c:v>
                </c:pt>
                <c:pt idx="1">
                  <c:v>100</c:v>
                </c:pt>
                <c:pt idx="2">
                  <c:v>100</c:v>
                </c:pt>
                <c:pt idx="3">
                  <c:v>100</c:v>
                </c:pt>
                <c:pt idx="4">
                  <c:v>100</c:v>
                </c:pt>
              </c:numCache>
            </c:numRef>
          </c:val>
        </c:ser>
        <c:dLbls>
          <c:numFmt formatCode="0.0&quot;%&quot;" sourceLinked="0"/>
          <c:txPr>
            <a:bodyPr/>
            <a:lstStyle/>
            <a:p>
              <a:pPr>
                <a:defRPr b="0" i="0" strike="noStrike" sz="1100" u="none">
                  <a:solidFill>
                    <a:srgbClr val="24201C"/>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C544C"/>
                </a:solidFill>
                <a:latin typeface="+mn-lt"/>
              </a:defRPr>
            </a:pPr>
            <a:endParaRPr lang="en-US"/>
          </a:p>
        </c:txPr>
        <c:crossAx val="2094734552"/>
        <c:crosses val="autoZero"/>
        <c:auto val="1"/>
        <c:lblAlgn val="ctr"/>
        <c:noMultiLvlLbl val="1"/>
      </c:catAx>
      <c:valAx>
        <c:axId val="2094734552"/>
        <c:scaling>
          <c:orientation val="minMax"/>
          <c:max val="11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project is the design and implementation of a web-based, AI-powered chatbot for student enquiries at Ebonyi State University. In the next ten minutes I will show the problem, how the chatbot understands questions written the way students write, including Pidgin and short forms, how I built and tested it, and the results. I will finish with a short live demonstration on this laptop, with the network switched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university publishes most of what students ask about, but the information is spread over at least seven websites and subdomains. Some of it is out of date: when I compiled the data, the academic calendar page still showed 2023/2024 and the acceptance fee table was for 2022/2023. Search only works with exact wording, so a question in Pidgin or with a spelling error finds nothing. And when a student cannot find an answer, nothing records it, so the same gap stays for the next student. [Add one figure from your interviews or questionnaire here if you have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aim was a chatbot that answers student enquiries accurately in natural language. The five objectives are on the left. On the right is what was built: 85 answers taken from 42 official EBSU pages, each stored with its source link; 307 language rules for Pidgin, abbreviations and common misspellings; and 60 labelled questions for testing. Facts the website does not publish, like current school fees and hostels, were not invented; they are listed in the report for the offices to supply.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families of chatbot. Rule-based bots match hand-written patterns and break when the wording changes. Generative bots like ChatGPT write fluent replies, but they can state a wrong fee or deadline with confidence, and they need internet and paid access. I chose retrieval: the bot selects an answer that a person wrote and checked, shows the official source, can be tested question by question, and runs on one computer for free. I built it in five increments: knowledge base, matching engine, student interface, administration, and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message goes through seven steps. It is cleaned, typing errors are corrected against the words the knowledge base knows, and the language rules translate Pidgin and short forms: here “wetin be” becomes “what”, “putme” becomes “postutme” and “fee” becomes “cost”. Common words are removed, the rest are reduced to their roots, and the message is scored against every stored phrasing. The best match here scores 1.00 against a stored phrasing of the Post-UTME fee question, so the bot answers, with the official source under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mathematics, using a four-question example the panel can check by hand. TF-IDF gives each word a weight: frequent in this question, rare across the knowledge base. With four stored questions, a word in one of them has an IDF of 1.9163 and a word in two has 1.5108. Cosine similarity compares the weighted vectors. The final score is 80 per cent cosine and 20 per cent trigram similarity, which tolerates spelling differences. D1, the Post-UTME form question, scores 0.741, above the answer threshold of 0.50, so the bot answers. D2 scores 0.404, which would only have produced a suggestion. The thresholds were chosen on a separate development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has three tiers, all on one computer. The pages run in the browser: the student chat, the How it works page, the contacts page and the admin area. The Next.js server, written in TypeScript, holds the API routes and the matching engine, which keeps an index of every stored phrasing in memory and rebuilds it when the data changes. MySQL, from XAMPP, holds eleven tables: the questions and answers, extra phrasings, language rules, chat logs, unanswered questions, admin accounts and settings. Admin passwords are bcrypt hashes and every query is parameterised. Nothing needs the internet after installation.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students and staff see; I will show it live in a moment. On the left, a Pidgin question and a misspelt question, each answered with the official source underneath. Top right: when the bot has no answer, it says so honestly, names the office to contact and saves the question. Bottom right: in the admin area those saved questions are grouped and counted, and the administrator can write an answer or link the question to an existing one with one click. After that the bot answers it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tested on 30 questions that I kept aside and never used while tuning: formal English, Pidgin, short forms, typing errors and five questions the knowledge base cannot answer. The bot handled 29 of 30 correctly, 96.7 per cent. Precision was 100 per cent: every answer it gave was the right one, and it answered none of the out-of-scope questions. Recall was 96.0 per cent. The one miss, “who do I call when the portal is not loading”, got suggestions instead of an answer, with the right answer first. The median response time was 3.6 ms. [Add the SUS result from your feedback forms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a transparent, retrieval-based chatbot that understands how Nigerian students write can be a reliable first point of contact for routine enquiries. My contributions are the Pidgin and abbreviation rule table, the offline retrieval pipeline that refers students to the right office when it is unsure, and a labelled EBSU test set with results. I recommend a pilot in the next admission exercise, with each office responsible for its own answers. Next I would add Igbo, meaning-based matching and a WhatsApp channel. Thank you. I will now show the system live, and I welcome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5212080" cy="1783080"/>
          </a:xfrm>
          <a:prstGeom prst="rect">
            <a:avLst/>
          </a:prstGeom>
          <a:noFill/>
          <a:ln/>
        </p:spPr>
        <p:txBody>
          <a:bodyPr wrap="square" rtlCol="0"/>
          <a:lstStyle>
            <a:lvl1pPr algn="l" indent="0" marL="0">
              <a:lnSpc>
                <a:spcPct val="95000"/>
              </a:lnSpc>
              <a:buNone/>
              <a:defRPr lang="en-US" sz="2600" b="1" dirty="0">
                <a:solidFill>
                  <a:schemeClr val="bg1"/>
                </a:solidFill>
              </a:defRPr>
            </a:lvl1pPr>
          </a:lstStyle>
          <a:p>
            <a:pPr algn="l" indent="0" marL="0">
              <a:lnSpc>
                <a:spcPct val="95000"/>
              </a:lnSpc>
              <a:buNone/>
            </a:pPr>
            <a:endParaRPr lang="en-US" sz="2600" dirty="0"/>
          </a:p>
        </p:txBody>
      </p:sp>
      <p:sp>
        <p:nvSpPr>
          <p:cNvPr id="3" name="Text 0"/>
          <p:cNvSpPr/>
          <p:nvPr>
            <p:ph idx="101" type="body" hasCustomPrompt="1"/>
          </p:nvPr>
        </p:nvSpPr>
        <p:spPr>
          <a:xfrm>
            <a:off x="548640" y="3310128"/>
            <a:ext cx="5212080" cy="1234440"/>
          </a:xfrm>
          <a:prstGeom prst="rect">
            <a:avLst/>
          </a:prstGeom>
          <a:noFill/>
          <a:ln/>
        </p:spPr>
        <p:txBody>
          <a:bodyPr wrap="square" rtlCol="0"/>
          <a:lstStyle>
            <a:lvl1pPr algn="l" indent="0" marL="0">
              <a:buNone/>
              <a:defRPr lang="en-US" sz="1400" dirty="0">
                <a:solidFill>
                  <a:schemeClr val="bg1"/>
                </a:solidFill>
              </a:defRPr>
            </a:lvl1pPr>
          </a:lstStyle>
          <a:p>
            <a:pPr algn="l"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046720" cy="274320"/>
          </a:xfrm>
          <a:prstGeom prst="rect">
            <a:avLst/>
          </a:prstGeom>
          <a:noFill/>
          <a:ln/>
        </p:spPr>
        <p:txBody>
          <a:bodyPr wrap="square" rtlCol="0"/>
          <a:lstStyle>
            <a:lvl1pPr algn="l" indent="0" marL="0">
              <a:buNone/>
              <a:defRPr lang="en-US" sz="1200" b="1" spc="150" kern="0" dirty="0">
                <a:solidFill>
                  <a:schemeClr val="accent3"/>
                </a:solidFill>
              </a:defRPr>
            </a:lvl1pPr>
          </a:lstStyle>
          <a:p>
            <a:pPr algn="l" indent="0" marL="0">
              <a:buNone/>
            </a:pPr>
            <a:endParaRPr lang="en-US" sz="1200" dirty="0"/>
          </a:p>
        </p:txBody>
      </p:sp>
      <p:sp>
        <p:nvSpPr>
          <p:cNvPr id="3" name="Text 0"/>
          <p:cNvSpPr/>
          <p:nvPr>
            <p:ph idx="101" type="title" hasCustomPrompt="1"/>
          </p:nvPr>
        </p:nvSpPr>
        <p:spPr>
          <a:xfrm>
            <a:off x="548640" y="585216"/>
            <a:ext cx="8046720" cy="658368"/>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4" name="Text 0"/>
          <p:cNvSpPr/>
          <p:nvPr/>
        </p:nvSpPr>
        <p:spPr>
          <a:xfrm>
            <a:off x="548640" y="4754880"/>
            <a:ext cx="5486400" cy="219456"/>
          </a:xfrm>
          <a:prstGeom prst="rect">
            <a:avLst/>
          </a:prstGeom>
          <a:noFill/>
          <a:ln/>
        </p:spPr>
        <p:txBody>
          <a:bodyPr wrap="square" lIns="0" tIns="0" rIns="0" bIns="0" rtlCol="0" anchor="ctr"/>
          <a:lstStyle/>
          <a:p>
            <a:pPr indent="0" marL="0">
              <a:buNone/>
            </a:pPr>
            <a:r>
              <a:rPr lang="en-US" sz="1000" dirty="0">
                <a:solidFill>
                  <a:schemeClr val="tx2"/>
                </a:solidFill>
              </a:rPr>
              <a:t>EBSU Enquiry Bot · Final year project defense</a:t>
            </a:r>
            <a:endParaRPr lang="en-US" sz="1000" dirty="0"/>
          </a:p>
        </p:txBody>
      </p:sp>
      <p:sp>
        <p:nvSpPr>
          <p:cNvPr id="25" name="Slide Number Placeholder 0"/>
          <p:cNvSpPr>
            <a:spLocks noGrp="1"/>
          </p:cNvSpPr>
          <p:nvPr>
            <p:ph type="sldNum" sz="quarter" idx="4294967295"/>
          </p:nvPr>
        </p:nvSpPr>
        <p:spPr>
          <a:xfrm>
            <a:off x="8138160" y="4754880"/>
            <a:ext cx="457200" cy="219456"/>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8046720" cy="658368"/>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138160" y="4754880"/>
            <a:ext cx="457200" cy="219456"/>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1"/>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754880"/>
            <a:ext cx="457200" cy="219456"/>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3.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image" Target="../media/image-8-3.jp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4.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Brand tile"/>
          <p:cNvSpPr/>
          <p:nvPr/>
        </p:nvSpPr>
        <p:spPr>
          <a:xfrm>
            <a:off x="548640" y="502920"/>
            <a:ext cx="566928" cy="566928"/>
          </a:xfrm>
          <a:prstGeom prst="roundRect">
            <a:avLst>
              <a:gd name="adj" fmla="val 25806"/>
            </a:avLst>
          </a:prstGeom>
          <a:solidFill>
            <a:schemeClr val="bg1"/>
          </a:solidFill>
          <a:ln/>
        </p:spPr>
      </p:sp>
      <p:pic>
        <p:nvPicPr>
          <p:cNvPr id="3" name="Brand icon" descr="EBSU Enquiry Bot mark">    </p:cNvPr>
          <p:cNvPicPr>
            <a:picLocks noChangeAspect="1"/>
          </p:cNvPicPr>
          <p:nvPr/>
        </p:nvPicPr>
        <p:blipFill>
          <a:blip r:embed="rId1"/>
          <a:stretch>
            <a:fillRect/>
          </a:stretch>
        </p:blipFill>
        <p:spPr>
          <a:xfrm>
            <a:off x="658368" y="612648"/>
            <a:ext cx="347472" cy="347472"/>
          </a:xfrm>
          <a:prstGeom prst="rect">
            <a:avLst/>
          </a:prstGeom>
        </p:spPr>
      </p:pic>
      <p:sp>
        <p:nvSpPr>
          <p:cNvPr id="4" name="Text 1"/>
          <p:cNvSpPr txBox="1"/>
          <p:nvPr/>
        </p:nvSpPr>
        <p:spPr>
          <a:xfrm>
            <a:off x="1261872" y="502920"/>
            <a:ext cx="3657600" cy="566928"/>
          </a:xfrm>
          <a:prstGeom prst="rect">
            <a:avLst/>
          </a:prstGeom>
          <a:noFill/>
          <a:ln/>
        </p:spPr>
        <p:txBody>
          <a:bodyPr wrap="square" lIns="0" tIns="0" rIns="0" bIns="0" rtlCol="0" anchor="ctr"/>
          <a:lstStyle/>
          <a:p>
            <a:pPr indent="0" marL="0">
              <a:buNone/>
            </a:pPr>
            <a:r>
              <a:rPr lang="en-US" sz="1800" b="1" dirty="0">
                <a:solidFill>
                  <a:schemeClr val="bg1"/>
                </a:solidFill>
              </a:rPr>
              <a:t>EBSU Enquiry Bot</a:t>
            </a:r>
            <a:endParaRPr lang="en-US" sz="1800" dirty="0"/>
          </a:p>
        </p:txBody>
      </p:sp>
      <p:sp>
        <p:nvSpPr>
          <p:cNvPr id="5" name="Text 0"/>
          <p:cNvSpPr/>
          <p:nvPr>
            <p:ph idx="100" type="title" hasCustomPrompt="1"/>
          </p:nvPr>
        </p:nvSpPr>
        <p:spPr>
          <a:xfrm>
            <a:off x="548640" y="1371600"/>
            <a:ext cx="5212080" cy="1783080"/>
          </a:xfrm>
          <a:prstGeom prst="rect">
            <a:avLst/>
          </a:prstGeom>
          <a:noFill/>
          <a:ln/>
        </p:spPr>
        <p:txBody>
          <a:bodyPr wrap="square" lIns="0" tIns="0" rIns="0" bIns="0" rtlCol="0" anchor="t"/>
          <a:lstStyle/>
          <a:p>
            <a:pPr algn="l" indent="0" marL="0">
              <a:lnSpc>
                <a:spcPct val="95000"/>
              </a:lnSpc>
              <a:buNone/>
            </a:pPr>
            <a:r>
              <a:rPr lang="en-US" sz="2600" b="1" dirty="0">
                <a:solidFill>
                  <a:schemeClr val="bg1"/>
                </a:solidFill>
              </a:rPr>
              <a:t>Design and Implementation of a Web-Based AI-Powered Chatbot for Student Enquiry Services in Ebonyi State University, Abakaliki</a:t>
            </a:r>
            <a:endParaRPr lang="en-US" sz="2600" dirty="0"/>
          </a:p>
        </p:txBody>
      </p:sp>
      <p:sp>
        <p:nvSpPr>
          <p:cNvPr id="6" name="Text 0"/>
          <p:cNvSpPr/>
          <p:nvPr>
            <p:ph idx="101" type="body" hasCustomPrompt="1"/>
          </p:nvPr>
        </p:nvSpPr>
        <p:spPr>
          <a:xfrm>
            <a:off x="548640" y="3310128"/>
            <a:ext cx="5212080" cy="1234440"/>
          </a:xfrm>
          <a:prstGeom prst="rect">
            <a:avLst/>
          </a:prstGeom>
          <a:noFill/>
          <a:ln/>
        </p:spPr>
        <p:txBody>
          <a:bodyPr wrap="square" lIns="0" tIns="0" rIns="0" bIns="0" rtlCol="0" anchor="t"/>
          <a:lstStyle/>
          <a:p>
            <a:pPr algn="l" indent="0" marL="0">
              <a:spcAft>
                <a:spcPts val="600"/>
              </a:spcAft>
              <a:buNone/>
            </a:pPr>
            <a:r>
              <a:rPr lang="en-US" sz="1400" b="1" dirty="0">
                <a:solidFill>
                  <a:srgbClr val="24201C"/>
                </a:solidFill>
                <a:highlight>
                  <a:srgbClr val="FFF2A8"/>
                </a:highlight>
              </a:rPr>
              <a:t>[Your full name]</a:t>
            </a:r>
            <a:pPr algn="l" indent="0" marL="0">
              <a:spcAft>
                <a:spcPts val="600"/>
              </a:spcAft>
              <a:buNone/>
            </a:pPr>
            <a:r>
              <a:rPr lang="en-US" sz="1400" dirty="0">
                <a:solidFill>
                  <a:schemeClr val="bg1"/>
                </a:solidFill>
              </a:rPr>
              <a:t>  ·  </a:t>
            </a:r>
            <a:pPr algn="l" indent="0" marL="0">
              <a:spcAft>
                <a:spcPts val="600"/>
              </a:spcAft>
              <a:buNone/>
            </a:pPr>
            <a:r>
              <a:rPr lang="en-US" sz="1400" dirty="0">
                <a:solidFill>
                  <a:srgbClr val="24201C"/>
                </a:solidFill>
                <a:highlight>
                  <a:srgbClr val="FFF2A8"/>
                </a:highlight>
              </a:rPr>
              <a:t>[Registration number]</a:t>
            </a:r>
            <a:endParaRPr lang="en-US" sz="1400" dirty="0"/>
          </a:p>
          <a:p>
            <a:pPr algn="l" indent="0" marL="0">
              <a:spcAft>
                <a:spcPts val="600"/>
              </a:spcAft>
              <a:buNone/>
            </a:pPr>
            <a:r>
              <a:rPr lang="en-US" sz="1400" dirty="0">
                <a:solidFill>
                  <a:schemeClr val="bg1"/>
                </a:solidFill>
              </a:rPr>
              <a:t>Supervisor: </a:t>
            </a:r>
            <a:pPr algn="l" indent="0" marL="0">
              <a:spcAft>
                <a:spcPts val="600"/>
              </a:spcAft>
              <a:buNone/>
            </a:pPr>
            <a:r>
              <a:rPr lang="en-US" sz="1400" dirty="0">
                <a:solidFill>
                  <a:srgbClr val="24201C"/>
                </a:solidFill>
                <a:highlight>
                  <a:srgbClr val="FFF2A8"/>
                </a:highlight>
              </a:rPr>
              <a:t>[Supervisor's name]</a:t>
            </a:r>
            <a:endParaRPr lang="en-US" sz="1400" dirty="0"/>
          </a:p>
          <a:p>
            <a:pPr algn="l" indent="0" marL="0">
              <a:spcAft>
                <a:spcPts val="600"/>
              </a:spcAft>
              <a:buNone/>
            </a:pPr>
            <a:r>
              <a:rPr lang="en-US" sz="1400" dirty="0">
                <a:solidFill>
                  <a:schemeClr val="bg1"/>
                </a:solidFill>
              </a:rPr>
              <a:t>Department of Computer Science, EBSU  ·  </a:t>
            </a:r>
            <a:pPr algn="l" indent="0" marL="0">
              <a:spcAft>
                <a:spcPts val="600"/>
              </a:spcAft>
              <a:buNone/>
            </a:pPr>
            <a:r>
              <a:rPr lang="en-US" sz="1400" dirty="0">
                <a:solidFill>
                  <a:srgbClr val="24201C"/>
                </a:solidFill>
                <a:highlight>
                  <a:srgbClr val="FFF2A8"/>
                </a:highlight>
              </a:rPr>
              <a:t>[Month Year]</a:t>
            </a:r>
            <a:endParaRPr lang="en-US" sz="1400" dirty="0"/>
          </a:p>
        </p:txBody>
      </p:sp>
      <p:pic>
        <p:nvPicPr>
          <p:cNvPr id="7" name="Phone screenshot" descr="The chatbot on a phone answering a Post-UTME question">    </p:cNvPr>
          <p:cNvPicPr>
            <a:picLocks noChangeAspect="1"/>
          </p:cNvPicPr>
          <p:nvPr/>
        </p:nvPicPr>
        <p:blipFill>
          <a:blip r:embed="rId2"/>
          <a:stretch>
            <a:fillRect/>
          </a:stretch>
        </p:blipFill>
        <p:spPr>
          <a:xfrm>
            <a:off x="6355080" y="384048"/>
            <a:ext cx="2011680" cy="435348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046720" cy="274320"/>
          </a:xfrm>
          <a:prstGeom prst="rect">
            <a:avLst/>
          </a:prstGeom>
          <a:noFill/>
          <a:ln/>
        </p:spPr>
        <p:txBody>
          <a:bodyPr wrap="square" lIns="0" tIns="0" rIns="0" bIns="0" rtlCol="0" anchor="t"/>
          <a:lstStyle/>
          <a:p>
            <a:pPr algn="l" indent="0" marL="0">
              <a:buNone/>
            </a:pPr>
            <a:r>
              <a:rPr lang="en-US" sz="1200" b="1" spc="150" kern="0" dirty="0">
                <a:solidFill>
                  <a:schemeClr val="accent3"/>
                </a:solidFill>
              </a:rPr>
              <a:t>THE PROBLEM</a:t>
            </a:r>
            <a:endParaRPr lang="en-US" sz="1200" dirty="0"/>
          </a:p>
        </p:txBody>
      </p:sp>
      <p:sp>
        <p:nvSpPr>
          <p:cNvPr id="3" name="Text 0"/>
          <p:cNvSpPr/>
          <p:nvPr>
            <p:ph idx="101" type="title" hasCustomPrompt="1"/>
          </p:nvPr>
        </p:nvSpPr>
        <p:spPr>
          <a:xfrm>
            <a:off x="548640" y="585216"/>
            <a:ext cx="8046720" cy="658368"/>
          </a:xfrm>
          <a:prstGeom prst="rect">
            <a:avLst/>
          </a:prstGeom>
          <a:noFill/>
          <a:ln/>
        </p:spPr>
        <p:txBody>
          <a:bodyPr wrap="square" lIns="0" tIns="0" rIns="0" bIns="0" rtlCol="0" anchor="t"/>
          <a:lstStyle/>
          <a:p>
            <a:pPr algn="l" indent="0" marL="0">
              <a:buNone/>
            </a:pPr>
            <a:r>
              <a:rPr lang="en-US" sz="3200" b="1" dirty="0">
                <a:solidFill>
                  <a:schemeClr val="tx1"/>
                </a:solidFill>
              </a:rPr>
              <a:t>The answers exist but are hard to reach</a:t>
            </a:r>
            <a:endParaRPr lang="en-US" sz="3200" dirty="0"/>
          </a:p>
        </p:txBody>
      </p:sp>
      <p:sp>
        <p:nvSpPr>
          <p:cNvPr id="4" name="Globe circle"/>
          <p:cNvSpPr/>
          <p:nvPr/>
        </p:nvSpPr>
        <p:spPr>
          <a:xfrm>
            <a:off x="548640" y="1463040"/>
            <a:ext cx="475488" cy="475488"/>
          </a:xfrm>
          <a:prstGeom prst="ellipse">
            <a:avLst/>
          </a:prstGeom>
          <a:solidFill>
            <a:schemeClr val="accent1"/>
          </a:solidFill>
          <a:ln/>
        </p:spPr>
      </p:sp>
      <p:pic>
        <p:nvPicPr>
          <p:cNvPr id="5" name="Globe icon" descr="Globe icon">    </p:cNvPr>
          <p:cNvPicPr>
            <a:picLocks noChangeAspect="1"/>
          </p:cNvPicPr>
          <p:nvPr/>
        </p:nvPicPr>
        <p:blipFill>
          <a:blip r:embed="rId1"/>
          <a:stretch>
            <a:fillRect/>
          </a:stretch>
        </p:blipFill>
        <p:spPr>
          <a:xfrm>
            <a:off x="658002" y="1572402"/>
            <a:ext cx="256764" cy="256764"/>
          </a:xfrm>
          <a:prstGeom prst="rect">
            <a:avLst/>
          </a:prstGeom>
        </p:spPr>
      </p:pic>
      <p:sp>
        <p:nvSpPr>
          <p:cNvPr id="6" name="Text 3"/>
          <p:cNvSpPr txBox="1"/>
          <p:nvPr/>
        </p:nvSpPr>
        <p:spPr>
          <a:xfrm>
            <a:off x="1207008" y="1444752"/>
            <a:ext cx="3931920" cy="274320"/>
          </a:xfrm>
          <a:prstGeom prst="rect">
            <a:avLst/>
          </a:prstGeom>
          <a:noFill/>
          <a:ln/>
        </p:spPr>
        <p:txBody>
          <a:bodyPr wrap="square" lIns="0" tIns="0" rIns="0" bIns="0" rtlCol="0" anchor="t"/>
          <a:lstStyle/>
          <a:p>
            <a:pPr indent="0" marL="0">
              <a:buNone/>
            </a:pPr>
            <a:r>
              <a:rPr lang="en-US" sz="1600" b="1" dirty="0">
                <a:solidFill>
                  <a:schemeClr val="tx1"/>
                </a:solidFill>
              </a:rPr>
              <a:t>Scattered</a:t>
            </a:r>
            <a:endParaRPr lang="en-US" sz="1600" dirty="0"/>
          </a:p>
        </p:txBody>
      </p:sp>
      <p:sp>
        <p:nvSpPr>
          <p:cNvPr id="7" name="Text 4"/>
          <p:cNvSpPr txBox="1"/>
          <p:nvPr/>
        </p:nvSpPr>
        <p:spPr>
          <a:xfrm>
            <a:off x="1207008" y="1728216"/>
            <a:ext cx="3931920" cy="457200"/>
          </a:xfrm>
          <a:prstGeom prst="rect">
            <a:avLst/>
          </a:prstGeom>
          <a:noFill/>
          <a:ln/>
        </p:spPr>
        <p:txBody>
          <a:bodyPr wrap="square" lIns="0" tIns="0" rIns="0" bIns="0" rtlCol="0" anchor="t"/>
          <a:lstStyle/>
          <a:p>
            <a:pPr indent="0" marL="0">
              <a:buNone/>
            </a:pPr>
            <a:r>
              <a:rPr lang="en-US" sz="1400" dirty="0">
                <a:solidFill>
                  <a:schemeClr val="tx2"/>
                </a:solidFill>
              </a:rPr>
              <a:t>Answers sit on at least seven EBSU websites and subdomains.</a:t>
            </a:r>
            <a:endParaRPr lang="en-US" sz="1400" dirty="0"/>
          </a:p>
        </p:txBody>
      </p:sp>
      <p:sp>
        <p:nvSpPr>
          <p:cNvPr id="8" name="CalendarX circle"/>
          <p:cNvSpPr/>
          <p:nvPr/>
        </p:nvSpPr>
        <p:spPr>
          <a:xfrm>
            <a:off x="548640" y="2249424"/>
            <a:ext cx="475488" cy="475488"/>
          </a:xfrm>
          <a:prstGeom prst="ellipse">
            <a:avLst/>
          </a:prstGeom>
          <a:solidFill>
            <a:schemeClr val="accent1"/>
          </a:solidFill>
          <a:ln/>
        </p:spPr>
      </p:sp>
      <p:pic>
        <p:nvPicPr>
          <p:cNvPr id="9" name="CalendarX icon" descr="CalendarX icon">    </p:cNvPr>
          <p:cNvPicPr>
            <a:picLocks noChangeAspect="1"/>
          </p:cNvPicPr>
          <p:nvPr/>
        </p:nvPicPr>
        <p:blipFill>
          <a:blip r:embed="rId2"/>
          <a:stretch>
            <a:fillRect/>
          </a:stretch>
        </p:blipFill>
        <p:spPr>
          <a:xfrm>
            <a:off x="658002" y="2358786"/>
            <a:ext cx="256764" cy="256764"/>
          </a:xfrm>
          <a:prstGeom prst="rect">
            <a:avLst/>
          </a:prstGeom>
        </p:spPr>
      </p:pic>
      <p:sp>
        <p:nvSpPr>
          <p:cNvPr id="10" name="Text 6"/>
          <p:cNvSpPr txBox="1"/>
          <p:nvPr/>
        </p:nvSpPr>
        <p:spPr>
          <a:xfrm>
            <a:off x="1207008" y="2231136"/>
            <a:ext cx="3931920" cy="274320"/>
          </a:xfrm>
          <a:prstGeom prst="rect">
            <a:avLst/>
          </a:prstGeom>
          <a:noFill/>
          <a:ln/>
        </p:spPr>
        <p:txBody>
          <a:bodyPr wrap="square" lIns="0" tIns="0" rIns="0" bIns="0" rtlCol="0" anchor="t"/>
          <a:lstStyle/>
          <a:p>
            <a:pPr indent="0" marL="0">
              <a:buNone/>
            </a:pPr>
            <a:r>
              <a:rPr lang="en-US" sz="1600" b="1" dirty="0">
                <a:solidFill>
                  <a:schemeClr val="tx1"/>
                </a:solidFill>
              </a:rPr>
              <a:t>Out of date</a:t>
            </a:r>
            <a:endParaRPr lang="en-US" sz="1600" dirty="0"/>
          </a:p>
        </p:txBody>
      </p:sp>
      <p:sp>
        <p:nvSpPr>
          <p:cNvPr id="11" name="Text 7"/>
          <p:cNvSpPr txBox="1"/>
          <p:nvPr/>
        </p:nvSpPr>
        <p:spPr>
          <a:xfrm>
            <a:off x="1207008" y="2514600"/>
            <a:ext cx="3931920" cy="457200"/>
          </a:xfrm>
          <a:prstGeom prst="rect">
            <a:avLst/>
          </a:prstGeom>
          <a:noFill/>
          <a:ln/>
        </p:spPr>
        <p:txBody>
          <a:bodyPr wrap="square" lIns="0" tIns="0" rIns="0" bIns="0" rtlCol="0" anchor="t"/>
          <a:lstStyle/>
          <a:p>
            <a:pPr indent="0" marL="0">
              <a:buNone/>
            </a:pPr>
            <a:r>
              <a:rPr lang="en-US" sz="1400" dirty="0">
                <a:solidFill>
                  <a:schemeClr val="tx2"/>
                </a:solidFill>
              </a:rPr>
              <a:t>The calendar page showed 2023/2024; the acceptance fee table was for 2022/2023.</a:t>
            </a:r>
            <a:endParaRPr lang="en-US" sz="1400" dirty="0"/>
          </a:p>
        </p:txBody>
      </p:sp>
      <p:sp>
        <p:nvSpPr>
          <p:cNvPr id="12" name="MagnifyingGlass circle"/>
          <p:cNvSpPr/>
          <p:nvPr/>
        </p:nvSpPr>
        <p:spPr>
          <a:xfrm>
            <a:off x="548640" y="3035808"/>
            <a:ext cx="475488" cy="475488"/>
          </a:xfrm>
          <a:prstGeom prst="ellipse">
            <a:avLst/>
          </a:prstGeom>
          <a:solidFill>
            <a:schemeClr val="accent1"/>
          </a:solidFill>
          <a:ln/>
        </p:spPr>
      </p:sp>
      <p:pic>
        <p:nvPicPr>
          <p:cNvPr id="13" name="MagnifyingGlass icon" descr="MagnifyingGlass icon">    </p:cNvPr>
          <p:cNvPicPr>
            <a:picLocks noChangeAspect="1"/>
          </p:cNvPicPr>
          <p:nvPr/>
        </p:nvPicPr>
        <p:blipFill>
          <a:blip r:embed="rId3"/>
          <a:stretch>
            <a:fillRect/>
          </a:stretch>
        </p:blipFill>
        <p:spPr>
          <a:xfrm>
            <a:off x="658002" y="3145170"/>
            <a:ext cx="256764" cy="256764"/>
          </a:xfrm>
          <a:prstGeom prst="rect">
            <a:avLst/>
          </a:prstGeom>
        </p:spPr>
      </p:pic>
      <p:sp>
        <p:nvSpPr>
          <p:cNvPr id="14" name="Text 9"/>
          <p:cNvSpPr txBox="1"/>
          <p:nvPr/>
        </p:nvSpPr>
        <p:spPr>
          <a:xfrm>
            <a:off x="1207008" y="3017520"/>
            <a:ext cx="3931920" cy="274320"/>
          </a:xfrm>
          <a:prstGeom prst="rect">
            <a:avLst/>
          </a:prstGeom>
          <a:noFill/>
          <a:ln/>
        </p:spPr>
        <p:txBody>
          <a:bodyPr wrap="square" lIns="0" tIns="0" rIns="0" bIns="0" rtlCol="0" anchor="t"/>
          <a:lstStyle/>
          <a:p>
            <a:pPr indent="0" marL="0">
              <a:buNone/>
            </a:pPr>
            <a:r>
              <a:rPr lang="en-US" sz="1600" b="1" dirty="0">
                <a:solidFill>
                  <a:schemeClr val="tx1"/>
                </a:solidFill>
              </a:rPr>
              <a:t>Exact wording only</a:t>
            </a:r>
            <a:endParaRPr lang="en-US" sz="1600" dirty="0"/>
          </a:p>
        </p:txBody>
      </p:sp>
      <p:sp>
        <p:nvSpPr>
          <p:cNvPr id="15" name="Text 10"/>
          <p:cNvSpPr txBox="1"/>
          <p:nvPr/>
        </p:nvSpPr>
        <p:spPr>
          <a:xfrm>
            <a:off x="1207008" y="3300984"/>
            <a:ext cx="3931920" cy="457200"/>
          </a:xfrm>
          <a:prstGeom prst="rect">
            <a:avLst/>
          </a:prstGeom>
          <a:noFill/>
          <a:ln/>
        </p:spPr>
        <p:txBody>
          <a:bodyPr wrap="square" lIns="0" tIns="0" rIns="0" bIns="0" rtlCol="0" anchor="t"/>
          <a:lstStyle/>
          <a:p>
            <a:pPr indent="0" marL="0">
              <a:buNone/>
            </a:pPr>
            <a:r>
              <a:rPr lang="en-US" sz="1400" dirty="0">
                <a:solidFill>
                  <a:schemeClr val="tx2"/>
                </a:solidFill>
              </a:rPr>
              <a:t>Search does not connect “wetin be the putme fee” or “admision” to the notice.</a:t>
            </a:r>
            <a:endParaRPr lang="en-US" sz="1400" dirty="0"/>
          </a:p>
        </p:txBody>
      </p:sp>
      <p:sp>
        <p:nvSpPr>
          <p:cNvPr id="16" name="EyeSlash circle"/>
          <p:cNvSpPr/>
          <p:nvPr/>
        </p:nvSpPr>
        <p:spPr>
          <a:xfrm>
            <a:off x="548640" y="3822192"/>
            <a:ext cx="475488" cy="475488"/>
          </a:xfrm>
          <a:prstGeom prst="ellipse">
            <a:avLst/>
          </a:prstGeom>
          <a:solidFill>
            <a:schemeClr val="accent1"/>
          </a:solidFill>
          <a:ln/>
        </p:spPr>
      </p:sp>
      <p:pic>
        <p:nvPicPr>
          <p:cNvPr id="17" name="EyeSlash icon" descr="EyeSlash icon">    </p:cNvPr>
          <p:cNvPicPr>
            <a:picLocks noChangeAspect="1"/>
          </p:cNvPicPr>
          <p:nvPr/>
        </p:nvPicPr>
        <p:blipFill>
          <a:blip r:embed="rId4"/>
          <a:stretch>
            <a:fillRect/>
          </a:stretch>
        </p:blipFill>
        <p:spPr>
          <a:xfrm>
            <a:off x="658002" y="3931554"/>
            <a:ext cx="256764" cy="256764"/>
          </a:xfrm>
          <a:prstGeom prst="rect">
            <a:avLst/>
          </a:prstGeom>
        </p:spPr>
      </p:pic>
      <p:sp>
        <p:nvSpPr>
          <p:cNvPr id="18" name="Text 12"/>
          <p:cNvSpPr txBox="1"/>
          <p:nvPr/>
        </p:nvSpPr>
        <p:spPr>
          <a:xfrm>
            <a:off x="1207008" y="3803904"/>
            <a:ext cx="3931920" cy="274320"/>
          </a:xfrm>
          <a:prstGeom prst="rect">
            <a:avLst/>
          </a:prstGeom>
          <a:noFill/>
          <a:ln/>
        </p:spPr>
        <p:txBody>
          <a:bodyPr wrap="square" lIns="0" tIns="0" rIns="0" bIns="0" rtlCol="0" anchor="t"/>
          <a:lstStyle/>
          <a:p>
            <a:pPr indent="0" marL="0">
              <a:buNone/>
            </a:pPr>
            <a:r>
              <a:rPr lang="en-US" sz="1600" b="1" dirty="0">
                <a:solidFill>
                  <a:schemeClr val="tx1"/>
                </a:solidFill>
              </a:rPr>
              <a:t>No record</a:t>
            </a:r>
            <a:endParaRPr lang="en-US" sz="1600" dirty="0"/>
          </a:p>
        </p:txBody>
      </p:sp>
      <p:sp>
        <p:nvSpPr>
          <p:cNvPr id="19" name="Text 13"/>
          <p:cNvSpPr txBox="1"/>
          <p:nvPr/>
        </p:nvSpPr>
        <p:spPr>
          <a:xfrm>
            <a:off x="1207008" y="4087368"/>
            <a:ext cx="3931920" cy="457200"/>
          </a:xfrm>
          <a:prstGeom prst="rect">
            <a:avLst/>
          </a:prstGeom>
          <a:noFill/>
          <a:ln/>
        </p:spPr>
        <p:txBody>
          <a:bodyPr wrap="square" lIns="0" tIns="0" rIns="0" bIns="0" rtlCol="0" anchor="t"/>
          <a:lstStyle/>
          <a:p>
            <a:pPr indent="0" marL="0">
              <a:buNone/>
            </a:pPr>
            <a:r>
              <a:rPr lang="en-US" sz="1400" dirty="0">
                <a:solidFill>
                  <a:schemeClr val="tx2"/>
                </a:solidFill>
              </a:rPr>
              <a:t>Nobody learns what students looked for and could not find.</a:t>
            </a:r>
            <a:endParaRPr lang="en-US" sz="1400" dirty="0"/>
          </a:p>
        </p:txBody>
      </p:sp>
      <p:sp>
        <p:nvSpPr>
          <p:cNvPr id="20" name="Seven sites card"/>
          <p:cNvSpPr/>
          <p:nvPr/>
        </p:nvSpPr>
        <p:spPr>
          <a:xfrm>
            <a:off x="5532120" y="1463040"/>
            <a:ext cx="3063240" cy="3090672"/>
          </a:xfrm>
          <a:prstGeom prst="roundRect">
            <a:avLst>
              <a:gd name="adj" fmla="val 4179"/>
            </a:avLst>
          </a:prstGeom>
          <a:solidFill>
            <a:schemeClr val="bg1"/>
          </a:solidFill>
          <a:ln w="9525">
            <a:solidFill>
              <a:schemeClr val="accent5"/>
            </a:solidFill>
            <a:prstDash val="solid"/>
          </a:ln>
        </p:spPr>
      </p:sp>
      <p:sp>
        <p:nvSpPr>
          <p:cNvPr id="21" name="Text 15"/>
          <p:cNvSpPr txBox="1"/>
          <p:nvPr/>
        </p:nvSpPr>
        <p:spPr>
          <a:xfrm>
            <a:off x="5806440" y="1572768"/>
            <a:ext cx="1097280" cy="868680"/>
          </a:xfrm>
          <a:prstGeom prst="rect">
            <a:avLst/>
          </a:prstGeom>
          <a:noFill/>
          <a:ln/>
        </p:spPr>
        <p:txBody>
          <a:bodyPr wrap="square" lIns="0" tIns="0" rIns="0" bIns="0" rtlCol="0" anchor="t"/>
          <a:lstStyle/>
          <a:p>
            <a:pPr indent="0" marL="0">
              <a:buNone/>
            </a:pPr>
            <a:r>
              <a:rPr lang="en-US" sz="6000" b="1" dirty="0">
                <a:solidFill>
                  <a:schemeClr val="accent1"/>
                </a:solidFill>
              </a:rPr>
              <a:t>7</a:t>
            </a:r>
            <a:endParaRPr lang="en-US" sz="6000" dirty="0"/>
          </a:p>
        </p:txBody>
      </p:sp>
      <p:sp>
        <p:nvSpPr>
          <p:cNvPr id="22" name="Text 16"/>
          <p:cNvSpPr txBox="1"/>
          <p:nvPr/>
        </p:nvSpPr>
        <p:spPr>
          <a:xfrm>
            <a:off x="5806440" y="2432304"/>
            <a:ext cx="2606040" cy="457200"/>
          </a:xfrm>
          <a:prstGeom prst="rect">
            <a:avLst/>
          </a:prstGeom>
          <a:noFill/>
          <a:ln/>
        </p:spPr>
        <p:txBody>
          <a:bodyPr wrap="square" lIns="0" tIns="0" rIns="0" bIns="0" rtlCol="0" anchor="t"/>
          <a:lstStyle/>
          <a:p>
            <a:pPr indent="0" marL="0">
              <a:buNone/>
            </a:pPr>
            <a:r>
              <a:rPr lang="en-US" sz="1400" dirty="0">
                <a:solidFill>
                  <a:schemeClr val="tx2"/>
                </a:solidFill>
              </a:rPr>
              <a:t>websites and subdomains hold the answers</a:t>
            </a:r>
            <a:endParaRPr lang="en-US" sz="1400" dirty="0"/>
          </a:p>
        </p:txBody>
      </p:sp>
      <p:sp>
        <p:nvSpPr>
          <p:cNvPr id="23" name="Text 17"/>
          <p:cNvSpPr txBox="1"/>
          <p:nvPr/>
        </p:nvSpPr>
        <p:spPr>
          <a:xfrm>
            <a:off x="5806440" y="2944368"/>
            <a:ext cx="2651760" cy="1508760"/>
          </a:xfrm>
          <a:prstGeom prst="rect">
            <a:avLst/>
          </a:prstGeom>
          <a:noFill/>
          <a:ln/>
        </p:spPr>
        <p:txBody>
          <a:bodyPr wrap="square" lIns="0" tIns="0" rIns="0" bIns="0" rtlCol="0" anchor="t"/>
          <a:lstStyle/>
          <a:p>
            <a:pPr indent="0" marL="0">
              <a:spcAft>
                <a:spcPts val="200"/>
              </a:spcAft>
              <a:buNone/>
            </a:pPr>
            <a:r>
              <a:rPr lang="en-US" sz="1200" dirty="0">
                <a:solidFill>
                  <a:schemeClr val="tx1"/>
                </a:solidFill>
              </a:rPr>
              <a:t>ebsu.edu.ng</a:t>
            </a:r>
            <a:endParaRPr lang="en-US" sz="1200" dirty="0"/>
          </a:p>
          <a:p>
            <a:pPr indent="0" marL="0">
              <a:spcAft>
                <a:spcPts val="200"/>
              </a:spcAft>
              <a:buNone/>
            </a:pPr>
            <a:r>
              <a:rPr lang="en-US" sz="1200" dirty="0">
                <a:solidFill>
                  <a:schemeClr val="tx1"/>
                </a:solidFill>
              </a:rPr>
              <a:t>portal.ebsu.edu.ng</a:t>
            </a:r>
            <a:endParaRPr lang="en-US" sz="1200" dirty="0"/>
          </a:p>
          <a:p>
            <a:pPr indent="0" marL="0">
              <a:spcAft>
                <a:spcPts val="200"/>
              </a:spcAft>
              <a:buNone/>
            </a:pPr>
            <a:r>
              <a:rPr lang="en-US" sz="1200" dirty="0">
                <a:solidFill>
                  <a:schemeClr val="tx1"/>
                </a:solidFill>
              </a:rPr>
              <a:t>iportal.ebsu.edu.ng</a:t>
            </a:r>
            <a:endParaRPr lang="en-US" sz="1200" dirty="0"/>
          </a:p>
          <a:p>
            <a:pPr indent="0" marL="0">
              <a:spcAft>
                <a:spcPts val="200"/>
              </a:spcAft>
              <a:buNone/>
            </a:pPr>
            <a:r>
              <a:rPr lang="en-US" sz="1200" dirty="0">
                <a:solidFill>
                  <a:schemeClr val="tx1"/>
                </a:solidFill>
              </a:rPr>
              <a:t>spgs.ebsu.edu.ng</a:t>
            </a:r>
            <a:endParaRPr lang="en-US" sz="1200" dirty="0"/>
          </a:p>
          <a:p>
            <a:pPr indent="0" marL="0">
              <a:spcAft>
                <a:spcPts val="200"/>
              </a:spcAft>
              <a:buNone/>
            </a:pPr>
            <a:r>
              <a:rPr lang="en-US" sz="1200" dirty="0">
                <a:solidFill>
                  <a:schemeClr val="tx1"/>
                </a:solidFill>
              </a:rPr>
              <a:t>services.ebsu.edu.ng</a:t>
            </a:r>
            <a:endParaRPr lang="en-US" sz="1200" dirty="0"/>
          </a:p>
          <a:p>
            <a:pPr indent="0" marL="0">
              <a:spcAft>
                <a:spcPts val="200"/>
              </a:spcAft>
              <a:buNone/>
            </a:pPr>
            <a:r>
              <a:rPr lang="en-US" sz="1200" dirty="0">
                <a:solidFill>
                  <a:schemeClr val="tx1"/>
                </a:solidFill>
              </a:rPr>
              <a:t>mail.ebsu.edu.ng (older site)</a:t>
            </a:r>
            <a:endParaRPr lang="en-US" sz="1200" dirty="0"/>
          </a:p>
          <a:p>
            <a:pPr indent="0" marL="0">
              <a:spcAft>
                <a:spcPts val="200"/>
              </a:spcAft>
              <a:buNone/>
            </a:pPr>
            <a:r>
              <a:rPr lang="en-US" sz="1200" dirty="0">
                <a:solidFill>
                  <a:schemeClr val="tx1"/>
                </a:solidFill>
              </a:rPr>
              <a:t>orphanproject.ebsu.edu.ng</a:t>
            </a:r>
            <a:endParaRPr lang="en-US" sz="1200" dirty="0"/>
          </a:p>
        </p:txBody>
      </p:sp>
      <p:sp>
        <p:nvSpPr>
          <p:cNvPr id="25" name="Slide Number Placeholder 0"/>
          <p:cNvSpPr>
            <a:spLocks noGrp="1"/>
          </p:cNvSpPr>
          <p:nvPr>
            <p:ph type="sldNum" sz="quarter" idx="4294967295"/>
          </p:nvPr>
        </p:nvSpPr>
        <p:spPr>
          <a:xfrm>
            <a:off x="8138160" y="4754880"/>
            <a:ext cx="457200" cy="219456"/>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046720" cy="274320"/>
          </a:xfrm>
          <a:prstGeom prst="rect">
            <a:avLst/>
          </a:prstGeom>
          <a:noFill/>
          <a:ln/>
        </p:spPr>
        <p:txBody>
          <a:bodyPr wrap="square" lIns="0" tIns="0" rIns="0" bIns="0" rtlCol="0" anchor="t"/>
          <a:lstStyle/>
          <a:p>
            <a:pPr algn="l" indent="0" marL="0">
              <a:buNone/>
            </a:pPr>
            <a:r>
              <a:rPr lang="en-US" sz="1200" b="1" spc="150" kern="0" dirty="0">
                <a:solidFill>
                  <a:schemeClr val="accent3"/>
                </a:solidFill>
              </a:rPr>
              <a:t>AIM AND OBJECTIVES</a:t>
            </a:r>
            <a:endParaRPr lang="en-US" sz="1200" dirty="0"/>
          </a:p>
        </p:txBody>
      </p:sp>
      <p:sp>
        <p:nvSpPr>
          <p:cNvPr id="3" name="Text 0"/>
          <p:cNvSpPr/>
          <p:nvPr>
            <p:ph idx="101" type="title" hasCustomPrompt="1"/>
          </p:nvPr>
        </p:nvSpPr>
        <p:spPr>
          <a:xfrm>
            <a:off x="548640" y="585216"/>
            <a:ext cx="8046720" cy="658368"/>
          </a:xfrm>
          <a:prstGeom prst="rect">
            <a:avLst/>
          </a:prstGeom>
          <a:noFill/>
          <a:ln/>
        </p:spPr>
        <p:txBody>
          <a:bodyPr wrap="square" lIns="0" tIns="0" rIns="0" bIns="0" rtlCol="0" anchor="t"/>
          <a:lstStyle/>
          <a:p>
            <a:pPr algn="l" indent="0" marL="0">
              <a:buNone/>
            </a:pPr>
            <a:r>
              <a:rPr lang="en-US" sz="3200" b="1" dirty="0">
                <a:solidFill>
                  <a:schemeClr val="tx1"/>
                </a:solidFill>
              </a:rPr>
              <a:t>A chatbot that understands students</a:t>
            </a:r>
            <a:endParaRPr lang="en-US" sz="3200" dirty="0"/>
          </a:p>
        </p:txBody>
      </p:sp>
      <p:sp>
        <p:nvSpPr>
          <p:cNvPr id="4" name="Objective 1 marker"/>
          <p:cNvSpPr/>
          <p:nvPr/>
        </p:nvSpPr>
        <p:spPr>
          <a:xfrm>
            <a:off x="548640" y="1481328"/>
            <a:ext cx="384048" cy="384048"/>
          </a:xfrm>
          <a:prstGeom prst="ellipse">
            <a:avLst/>
          </a:prstGeom>
          <a:solidFill>
            <a:schemeClr val="accent4"/>
          </a:solidFill>
          <a:ln/>
        </p:spPr>
      </p:sp>
      <p:sp>
        <p:nvSpPr>
          <p:cNvPr id="5" name="Text 3"/>
          <p:cNvSpPr txBox="1"/>
          <p:nvPr/>
        </p:nvSpPr>
        <p:spPr>
          <a:xfrm>
            <a:off x="548640" y="1481328"/>
            <a:ext cx="384048" cy="384048"/>
          </a:xfrm>
          <a:prstGeom prst="rect">
            <a:avLst/>
          </a:prstGeom>
          <a:noFill/>
          <a:ln/>
        </p:spPr>
        <p:txBody>
          <a:bodyPr wrap="square" lIns="0" tIns="0" rIns="0" bIns="0" rtlCol="0" anchor="ctr"/>
          <a:lstStyle/>
          <a:p>
            <a:pPr algn="ctr" indent="0" marL="0">
              <a:buNone/>
            </a:pPr>
            <a:r>
              <a:rPr lang="en-US" sz="1400" b="1" dirty="0">
                <a:solidFill>
                  <a:schemeClr val="accent3"/>
                </a:solidFill>
              </a:rPr>
              <a:t>1</a:t>
            </a:r>
            <a:endParaRPr lang="en-US" sz="1400" dirty="0"/>
          </a:p>
        </p:txBody>
      </p:sp>
      <p:sp>
        <p:nvSpPr>
          <p:cNvPr id="6" name="Text 4"/>
          <p:cNvSpPr txBox="1"/>
          <p:nvPr/>
        </p:nvSpPr>
        <p:spPr>
          <a:xfrm>
            <a:off x="1097280" y="1517904"/>
            <a:ext cx="4069080" cy="548640"/>
          </a:xfrm>
          <a:prstGeom prst="rect">
            <a:avLst/>
          </a:prstGeom>
          <a:noFill/>
          <a:ln/>
        </p:spPr>
        <p:txBody>
          <a:bodyPr wrap="square" lIns="0" tIns="0" rIns="0" bIns="0" rtlCol="0" anchor="t"/>
          <a:lstStyle/>
          <a:p>
            <a:pPr indent="0" marL="0">
              <a:buNone/>
            </a:pPr>
            <a:r>
              <a:rPr lang="en-US" sz="1500" dirty="0">
                <a:solidFill>
                  <a:schemeClr val="tx1"/>
                </a:solidFill>
              </a:rPr>
              <a:t>Build a knowledge base only from official EBSU sources</a:t>
            </a:r>
            <a:endParaRPr lang="en-US" sz="1500" dirty="0"/>
          </a:p>
        </p:txBody>
      </p:sp>
      <p:sp>
        <p:nvSpPr>
          <p:cNvPr id="7" name="Objective 2 marker"/>
          <p:cNvSpPr/>
          <p:nvPr/>
        </p:nvSpPr>
        <p:spPr>
          <a:xfrm>
            <a:off x="548640" y="2103120"/>
            <a:ext cx="384048" cy="384048"/>
          </a:xfrm>
          <a:prstGeom prst="ellipse">
            <a:avLst/>
          </a:prstGeom>
          <a:solidFill>
            <a:schemeClr val="accent4"/>
          </a:solidFill>
          <a:ln/>
        </p:spPr>
      </p:sp>
      <p:sp>
        <p:nvSpPr>
          <p:cNvPr id="8" name="Text 6"/>
          <p:cNvSpPr txBox="1"/>
          <p:nvPr/>
        </p:nvSpPr>
        <p:spPr>
          <a:xfrm>
            <a:off x="548640" y="2103120"/>
            <a:ext cx="384048" cy="384048"/>
          </a:xfrm>
          <a:prstGeom prst="rect">
            <a:avLst/>
          </a:prstGeom>
          <a:noFill/>
          <a:ln/>
        </p:spPr>
        <p:txBody>
          <a:bodyPr wrap="square" lIns="0" tIns="0" rIns="0" bIns="0" rtlCol="0" anchor="ctr"/>
          <a:lstStyle/>
          <a:p>
            <a:pPr algn="ctr" indent="0" marL="0">
              <a:buNone/>
            </a:pPr>
            <a:r>
              <a:rPr lang="en-US" sz="1400" b="1" dirty="0">
                <a:solidFill>
                  <a:schemeClr val="accent3"/>
                </a:solidFill>
              </a:rPr>
              <a:t>2</a:t>
            </a:r>
            <a:endParaRPr lang="en-US" sz="1400" dirty="0"/>
          </a:p>
        </p:txBody>
      </p:sp>
      <p:sp>
        <p:nvSpPr>
          <p:cNvPr id="9" name="Text 7"/>
          <p:cNvSpPr txBox="1"/>
          <p:nvPr/>
        </p:nvSpPr>
        <p:spPr>
          <a:xfrm>
            <a:off x="1097280" y="2139696"/>
            <a:ext cx="4069080" cy="548640"/>
          </a:xfrm>
          <a:prstGeom prst="rect">
            <a:avLst/>
          </a:prstGeom>
          <a:noFill/>
          <a:ln/>
        </p:spPr>
        <p:txBody>
          <a:bodyPr wrap="square" lIns="0" tIns="0" rIns="0" bIns="0" rtlCol="0" anchor="t"/>
          <a:lstStyle/>
          <a:p>
            <a:pPr indent="0" marL="0">
              <a:buNone/>
            </a:pPr>
            <a:r>
              <a:rPr lang="en-US" sz="1500" dirty="0">
                <a:solidFill>
                  <a:schemeClr val="tx1"/>
                </a:solidFill>
              </a:rPr>
              <a:t>Understand Pidgin, short forms and spelling errors</a:t>
            </a:r>
            <a:endParaRPr lang="en-US" sz="1500" dirty="0"/>
          </a:p>
        </p:txBody>
      </p:sp>
      <p:sp>
        <p:nvSpPr>
          <p:cNvPr id="10" name="Objective 3 marker"/>
          <p:cNvSpPr/>
          <p:nvPr/>
        </p:nvSpPr>
        <p:spPr>
          <a:xfrm>
            <a:off x="548640" y="2724912"/>
            <a:ext cx="384048" cy="384048"/>
          </a:xfrm>
          <a:prstGeom prst="ellipse">
            <a:avLst/>
          </a:prstGeom>
          <a:solidFill>
            <a:schemeClr val="accent4"/>
          </a:solidFill>
          <a:ln/>
        </p:spPr>
      </p:sp>
      <p:sp>
        <p:nvSpPr>
          <p:cNvPr id="11" name="Text 9"/>
          <p:cNvSpPr txBox="1"/>
          <p:nvPr/>
        </p:nvSpPr>
        <p:spPr>
          <a:xfrm>
            <a:off x="548640" y="2724912"/>
            <a:ext cx="384048" cy="384048"/>
          </a:xfrm>
          <a:prstGeom prst="rect">
            <a:avLst/>
          </a:prstGeom>
          <a:noFill/>
          <a:ln/>
        </p:spPr>
        <p:txBody>
          <a:bodyPr wrap="square" lIns="0" tIns="0" rIns="0" bIns="0" rtlCol="0" anchor="ctr"/>
          <a:lstStyle/>
          <a:p>
            <a:pPr algn="ctr" indent="0" marL="0">
              <a:buNone/>
            </a:pPr>
            <a:r>
              <a:rPr lang="en-US" sz="1400" b="1" dirty="0">
                <a:solidFill>
                  <a:schemeClr val="accent3"/>
                </a:solidFill>
              </a:rPr>
              <a:t>3</a:t>
            </a:r>
            <a:endParaRPr lang="en-US" sz="1400" dirty="0"/>
          </a:p>
        </p:txBody>
      </p:sp>
      <p:sp>
        <p:nvSpPr>
          <p:cNvPr id="12" name="Text 10"/>
          <p:cNvSpPr txBox="1"/>
          <p:nvPr/>
        </p:nvSpPr>
        <p:spPr>
          <a:xfrm>
            <a:off x="1097280" y="2761488"/>
            <a:ext cx="4069080" cy="548640"/>
          </a:xfrm>
          <a:prstGeom prst="rect">
            <a:avLst/>
          </a:prstGeom>
          <a:noFill/>
          <a:ln/>
        </p:spPr>
        <p:txBody>
          <a:bodyPr wrap="square" lIns="0" tIns="0" rIns="0" bIns="0" rtlCol="0" anchor="t"/>
          <a:lstStyle/>
          <a:p>
            <a:pPr indent="0" marL="0">
              <a:buNone/>
            </a:pPr>
            <a:r>
              <a:rPr lang="en-US" sz="1500" dirty="0">
                <a:solidFill>
                  <a:schemeClr val="tx1"/>
                </a:solidFill>
              </a:rPr>
              <a:t>Match with TF-IDF and fuzzy matching, with an honest fallback</a:t>
            </a:r>
            <a:endParaRPr lang="en-US" sz="1500" dirty="0"/>
          </a:p>
        </p:txBody>
      </p:sp>
      <p:sp>
        <p:nvSpPr>
          <p:cNvPr id="13" name="Objective 4 marker"/>
          <p:cNvSpPr/>
          <p:nvPr/>
        </p:nvSpPr>
        <p:spPr>
          <a:xfrm>
            <a:off x="548640" y="3346704"/>
            <a:ext cx="384048" cy="384048"/>
          </a:xfrm>
          <a:prstGeom prst="ellipse">
            <a:avLst/>
          </a:prstGeom>
          <a:solidFill>
            <a:schemeClr val="accent4"/>
          </a:solidFill>
          <a:ln/>
        </p:spPr>
      </p:sp>
      <p:sp>
        <p:nvSpPr>
          <p:cNvPr id="14" name="Text 12"/>
          <p:cNvSpPr txBox="1"/>
          <p:nvPr/>
        </p:nvSpPr>
        <p:spPr>
          <a:xfrm>
            <a:off x="548640" y="3346704"/>
            <a:ext cx="384048" cy="384048"/>
          </a:xfrm>
          <a:prstGeom prst="rect">
            <a:avLst/>
          </a:prstGeom>
          <a:noFill/>
          <a:ln/>
        </p:spPr>
        <p:txBody>
          <a:bodyPr wrap="square" lIns="0" tIns="0" rIns="0" bIns="0" rtlCol="0" anchor="ctr"/>
          <a:lstStyle/>
          <a:p>
            <a:pPr algn="ctr" indent="0" marL="0">
              <a:buNone/>
            </a:pPr>
            <a:r>
              <a:rPr lang="en-US" sz="1400" b="1" dirty="0">
                <a:solidFill>
                  <a:schemeClr val="accent3"/>
                </a:solidFill>
              </a:rPr>
              <a:t>4</a:t>
            </a:r>
            <a:endParaRPr lang="en-US" sz="1400" dirty="0"/>
          </a:p>
        </p:txBody>
      </p:sp>
      <p:sp>
        <p:nvSpPr>
          <p:cNvPr id="15" name="Text 13"/>
          <p:cNvSpPr txBox="1"/>
          <p:nvPr/>
        </p:nvSpPr>
        <p:spPr>
          <a:xfrm>
            <a:off x="1097280" y="3383280"/>
            <a:ext cx="4069080" cy="548640"/>
          </a:xfrm>
          <a:prstGeom prst="rect">
            <a:avLst/>
          </a:prstGeom>
          <a:noFill/>
          <a:ln/>
        </p:spPr>
        <p:txBody>
          <a:bodyPr wrap="square" lIns="0" tIns="0" rIns="0" bIns="0" rtlCol="0" anchor="t"/>
          <a:lstStyle/>
          <a:p>
            <a:pPr indent="0" marL="0">
              <a:buNone/>
            </a:pPr>
            <a:r>
              <a:rPr lang="en-US" sz="1500" dirty="0">
                <a:solidFill>
                  <a:schemeClr val="tx1"/>
                </a:solidFill>
              </a:rPr>
              <a:t>Give students a chat page and staff an admin panel</a:t>
            </a:r>
            <a:endParaRPr lang="en-US" sz="1500" dirty="0"/>
          </a:p>
        </p:txBody>
      </p:sp>
      <p:sp>
        <p:nvSpPr>
          <p:cNvPr id="16" name="Objective 5 marker"/>
          <p:cNvSpPr/>
          <p:nvPr/>
        </p:nvSpPr>
        <p:spPr>
          <a:xfrm>
            <a:off x="548640" y="3968496"/>
            <a:ext cx="384048" cy="384048"/>
          </a:xfrm>
          <a:prstGeom prst="ellipse">
            <a:avLst/>
          </a:prstGeom>
          <a:solidFill>
            <a:schemeClr val="accent4"/>
          </a:solidFill>
          <a:ln/>
        </p:spPr>
      </p:sp>
      <p:sp>
        <p:nvSpPr>
          <p:cNvPr id="17" name="Text 15"/>
          <p:cNvSpPr txBox="1"/>
          <p:nvPr/>
        </p:nvSpPr>
        <p:spPr>
          <a:xfrm>
            <a:off x="548640" y="3968496"/>
            <a:ext cx="384048" cy="384048"/>
          </a:xfrm>
          <a:prstGeom prst="rect">
            <a:avLst/>
          </a:prstGeom>
          <a:noFill/>
          <a:ln/>
        </p:spPr>
        <p:txBody>
          <a:bodyPr wrap="square" lIns="0" tIns="0" rIns="0" bIns="0" rtlCol="0" anchor="ctr"/>
          <a:lstStyle/>
          <a:p>
            <a:pPr algn="ctr" indent="0" marL="0">
              <a:buNone/>
            </a:pPr>
            <a:r>
              <a:rPr lang="en-US" sz="1400" b="1" dirty="0">
                <a:solidFill>
                  <a:schemeClr val="accent3"/>
                </a:solidFill>
              </a:rPr>
              <a:t>5</a:t>
            </a:r>
            <a:endParaRPr lang="en-US" sz="1400" dirty="0"/>
          </a:p>
        </p:txBody>
      </p:sp>
      <p:sp>
        <p:nvSpPr>
          <p:cNvPr id="18" name="Text 16"/>
          <p:cNvSpPr txBox="1"/>
          <p:nvPr/>
        </p:nvSpPr>
        <p:spPr>
          <a:xfrm>
            <a:off x="1097280" y="4005072"/>
            <a:ext cx="4069080" cy="548640"/>
          </a:xfrm>
          <a:prstGeom prst="rect">
            <a:avLst/>
          </a:prstGeom>
          <a:noFill/>
          <a:ln/>
        </p:spPr>
        <p:txBody>
          <a:bodyPr wrap="square" lIns="0" tIns="0" rIns="0" bIns="0" rtlCol="0" anchor="t"/>
          <a:lstStyle/>
          <a:p>
            <a:pPr indent="0" marL="0">
              <a:buNone/>
            </a:pPr>
            <a:r>
              <a:rPr lang="en-US" sz="1500" dirty="0">
                <a:solidFill>
                  <a:schemeClr val="tx1"/>
                </a:solidFill>
              </a:rPr>
              <a:t>Measure accuracy and collect user feedback</a:t>
            </a:r>
            <a:endParaRPr lang="en-US" sz="1500" dirty="0"/>
          </a:p>
        </p:txBody>
      </p:sp>
      <p:sp>
        <p:nvSpPr>
          <p:cNvPr id="19" name="answers, each with its official source card"/>
          <p:cNvSpPr/>
          <p:nvPr/>
        </p:nvSpPr>
        <p:spPr>
          <a:xfrm>
            <a:off x="5440680" y="1463040"/>
            <a:ext cx="1463040" cy="1444752"/>
          </a:xfrm>
          <a:prstGeom prst="roundRect">
            <a:avLst>
              <a:gd name="adj" fmla="val 8861"/>
            </a:avLst>
          </a:prstGeom>
          <a:solidFill>
            <a:schemeClr val="bg1"/>
          </a:solidFill>
          <a:ln w="9525">
            <a:solidFill>
              <a:schemeClr val="accent5"/>
            </a:solidFill>
            <a:prstDash val="solid"/>
          </a:ln>
        </p:spPr>
      </p:sp>
      <p:pic>
        <p:nvPicPr>
          <p:cNvPr id="20" name="Image 0" descr="Database icon">    </p:cNvPr>
          <p:cNvPicPr>
            <a:picLocks noChangeAspect="1"/>
          </p:cNvPicPr>
          <p:nvPr/>
        </p:nvPicPr>
        <p:blipFill>
          <a:blip r:embed="rId1"/>
          <a:stretch>
            <a:fillRect/>
          </a:stretch>
        </p:blipFill>
        <p:spPr>
          <a:xfrm>
            <a:off x="5623560" y="1627632"/>
            <a:ext cx="274320" cy="274320"/>
          </a:xfrm>
          <a:prstGeom prst="rect">
            <a:avLst/>
          </a:prstGeom>
        </p:spPr>
      </p:pic>
      <p:sp>
        <p:nvSpPr>
          <p:cNvPr id="21" name="Text 18"/>
          <p:cNvSpPr txBox="1"/>
          <p:nvPr/>
        </p:nvSpPr>
        <p:spPr>
          <a:xfrm>
            <a:off x="5623560" y="1920240"/>
            <a:ext cx="1188720" cy="502920"/>
          </a:xfrm>
          <a:prstGeom prst="rect">
            <a:avLst/>
          </a:prstGeom>
          <a:noFill/>
          <a:ln/>
        </p:spPr>
        <p:txBody>
          <a:bodyPr wrap="square" lIns="0" tIns="0" rIns="0" bIns="0" rtlCol="0" anchor="t"/>
          <a:lstStyle/>
          <a:p>
            <a:pPr indent="0" marL="0">
              <a:buNone/>
            </a:pPr>
            <a:r>
              <a:rPr lang="en-US" sz="3000" b="1" dirty="0">
                <a:solidFill>
                  <a:schemeClr val="accent1"/>
                </a:solidFill>
              </a:rPr>
              <a:t>85</a:t>
            </a:r>
            <a:endParaRPr lang="en-US" sz="3000" dirty="0"/>
          </a:p>
        </p:txBody>
      </p:sp>
      <p:sp>
        <p:nvSpPr>
          <p:cNvPr id="22" name="Text 19"/>
          <p:cNvSpPr txBox="1"/>
          <p:nvPr/>
        </p:nvSpPr>
        <p:spPr>
          <a:xfrm>
            <a:off x="5623560" y="2404872"/>
            <a:ext cx="1170432" cy="457200"/>
          </a:xfrm>
          <a:prstGeom prst="rect">
            <a:avLst/>
          </a:prstGeom>
          <a:noFill/>
          <a:ln/>
        </p:spPr>
        <p:txBody>
          <a:bodyPr wrap="square" lIns="0" tIns="0" rIns="0" bIns="0" rtlCol="0" anchor="t"/>
          <a:lstStyle/>
          <a:p>
            <a:pPr indent="0" marL="0">
              <a:buNone/>
            </a:pPr>
            <a:r>
              <a:rPr lang="en-US" sz="1100" dirty="0">
                <a:solidFill>
                  <a:schemeClr val="tx2"/>
                </a:solidFill>
              </a:rPr>
              <a:t>answers, each with its official source</a:t>
            </a:r>
            <a:endParaRPr lang="en-US" sz="1100" dirty="0"/>
          </a:p>
        </p:txBody>
      </p:sp>
      <p:sp>
        <p:nvSpPr>
          <p:cNvPr id="23" name="official EBSU pages used card"/>
          <p:cNvSpPr/>
          <p:nvPr/>
        </p:nvSpPr>
        <p:spPr>
          <a:xfrm>
            <a:off x="7040880" y="1463040"/>
            <a:ext cx="1463040" cy="1444752"/>
          </a:xfrm>
          <a:prstGeom prst="roundRect">
            <a:avLst>
              <a:gd name="adj" fmla="val 8861"/>
            </a:avLst>
          </a:prstGeom>
          <a:solidFill>
            <a:schemeClr val="bg1"/>
          </a:solidFill>
          <a:ln w="9525">
            <a:solidFill>
              <a:schemeClr val="accent5"/>
            </a:solidFill>
            <a:prstDash val="solid"/>
          </a:ln>
        </p:spPr>
      </p:sp>
      <p:pic>
        <p:nvPicPr>
          <p:cNvPr id="24" name="Image 1" descr="Link icon">    </p:cNvPr>
          <p:cNvPicPr>
            <a:picLocks noChangeAspect="1"/>
          </p:cNvPicPr>
          <p:nvPr/>
        </p:nvPicPr>
        <p:blipFill>
          <a:blip r:embed="rId2"/>
          <a:stretch>
            <a:fillRect/>
          </a:stretch>
        </p:blipFill>
        <p:spPr>
          <a:xfrm>
            <a:off x="7223760" y="1627632"/>
            <a:ext cx="274320" cy="274320"/>
          </a:xfrm>
          <a:prstGeom prst="rect">
            <a:avLst/>
          </a:prstGeom>
        </p:spPr>
      </p:pic>
      <p:sp>
        <p:nvSpPr>
          <p:cNvPr id="25" name="Text 21"/>
          <p:cNvSpPr txBox="1"/>
          <p:nvPr/>
        </p:nvSpPr>
        <p:spPr>
          <a:xfrm>
            <a:off x="7223760" y="1920240"/>
            <a:ext cx="1188720" cy="502920"/>
          </a:xfrm>
          <a:prstGeom prst="rect">
            <a:avLst/>
          </a:prstGeom>
          <a:noFill/>
          <a:ln/>
        </p:spPr>
        <p:txBody>
          <a:bodyPr wrap="square" lIns="0" tIns="0" rIns="0" bIns="0" rtlCol="0" anchor="t"/>
          <a:lstStyle/>
          <a:p>
            <a:pPr indent="0" marL="0">
              <a:buNone/>
            </a:pPr>
            <a:r>
              <a:rPr lang="en-US" sz="3000" b="1" dirty="0">
                <a:solidFill>
                  <a:schemeClr val="accent1"/>
                </a:solidFill>
              </a:rPr>
              <a:t>42</a:t>
            </a:r>
            <a:endParaRPr lang="en-US" sz="3000" dirty="0"/>
          </a:p>
        </p:txBody>
      </p:sp>
      <p:sp>
        <p:nvSpPr>
          <p:cNvPr id="26" name="Text 22"/>
          <p:cNvSpPr txBox="1"/>
          <p:nvPr/>
        </p:nvSpPr>
        <p:spPr>
          <a:xfrm>
            <a:off x="7223760" y="2404872"/>
            <a:ext cx="1170432" cy="457200"/>
          </a:xfrm>
          <a:prstGeom prst="rect">
            <a:avLst/>
          </a:prstGeom>
          <a:noFill/>
          <a:ln/>
        </p:spPr>
        <p:txBody>
          <a:bodyPr wrap="square" lIns="0" tIns="0" rIns="0" bIns="0" rtlCol="0" anchor="t"/>
          <a:lstStyle/>
          <a:p>
            <a:pPr indent="0" marL="0">
              <a:buNone/>
            </a:pPr>
            <a:r>
              <a:rPr lang="en-US" sz="1100" dirty="0">
                <a:solidFill>
                  <a:schemeClr val="tx2"/>
                </a:solidFill>
              </a:rPr>
              <a:t>official EBSU pages used</a:t>
            </a:r>
            <a:endParaRPr lang="en-US" sz="1100" dirty="0"/>
          </a:p>
        </p:txBody>
      </p:sp>
      <p:sp>
        <p:nvSpPr>
          <p:cNvPr id="27" name="Pidgin, abbreviation and spelling rules card"/>
          <p:cNvSpPr/>
          <p:nvPr/>
        </p:nvSpPr>
        <p:spPr>
          <a:xfrm>
            <a:off x="5440680" y="3035808"/>
            <a:ext cx="1463040" cy="1444752"/>
          </a:xfrm>
          <a:prstGeom prst="roundRect">
            <a:avLst>
              <a:gd name="adj" fmla="val 8861"/>
            </a:avLst>
          </a:prstGeom>
          <a:solidFill>
            <a:schemeClr val="bg1"/>
          </a:solidFill>
          <a:ln w="9525">
            <a:solidFill>
              <a:schemeClr val="accent5"/>
            </a:solidFill>
            <a:prstDash val="solid"/>
          </a:ln>
        </p:spPr>
      </p:sp>
      <p:pic>
        <p:nvPicPr>
          <p:cNvPr id="28" name="Image 2" descr="Translate icon">    </p:cNvPr>
          <p:cNvPicPr>
            <a:picLocks noChangeAspect="1"/>
          </p:cNvPicPr>
          <p:nvPr/>
        </p:nvPicPr>
        <p:blipFill>
          <a:blip r:embed="rId3"/>
          <a:stretch>
            <a:fillRect/>
          </a:stretch>
        </p:blipFill>
        <p:spPr>
          <a:xfrm>
            <a:off x="5623560" y="3200400"/>
            <a:ext cx="274320" cy="274320"/>
          </a:xfrm>
          <a:prstGeom prst="rect">
            <a:avLst/>
          </a:prstGeom>
        </p:spPr>
      </p:pic>
      <p:sp>
        <p:nvSpPr>
          <p:cNvPr id="29" name="Text 24"/>
          <p:cNvSpPr txBox="1"/>
          <p:nvPr/>
        </p:nvSpPr>
        <p:spPr>
          <a:xfrm>
            <a:off x="5623560" y="3493008"/>
            <a:ext cx="1188720" cy="502920"/>
          </a:xfrm>
          <a:prstGeom prst="rect">
            <a:avLst/>
          </a:prstGeom>
          <a:noFill/>
          <a:ln/>
        </p:spPr>
        <p:txBody>
          <a:bodyPr wrap="square" lIns="0" tIns="0" rIns="0" bIns="0" rtlCol="0" anchor="t"/>
          <a:lstStyle/>
          <a:p>
            <a:pPr indent="0" marL="0">
              <a:buNone/>
            </a:pPr>
            <a:r>
              <a:rPr lang="en-US" sz="3000" b="1" dirty="0">
                <a:solidFill>
                  <a:schemeClr val="accent1"/>
                </a:solidFill>
              </a:rPr>
              <a:t>307</a:t>
            </a:r>
            <a:endParaRPr lang="en-US" sz="3000" dirty="0"/>
          </a:p>
        </p:txBody>
      </p:sp>
      <p:sp>
        <p:nvSpPr>
          <p:cNvPr id="30" name="Text 25"/>
          <p:cNvSpPr txBox="1"/>
          <p:nvPr/>
        </p:nvSpPr>
        <p:spPr>
          <a:xfrm>
            <a:off x="5623560" y="3977640"/>
            <a:ext cx="1170432" cy="457200"/>
          </a:xfrm>
          <a:prstGeom prst="rect">
            <a:avLst/>
          </a:prstGeom>
          <a:noFill/>
          <a:ln/>
        </p:spPr>
        <p:txBody>
          <a:bodyPr wrap="square" lIns="0" tIns="0" rIns="0" bIns="0" rtlCol="0" anchor="t"/>
          <a:lstStyle/>
          <a:p>
            <a:pPr indent="0" marL="0">
              <a:buNone/>
            </a:pPr>
            <a:r>
              <a:rPr lang="en-US" sz="1100" dirty="0">
                <a:solidFill>
                  <a:schemeClr val="tx2"/>
                </a:solidFill>
              </a:rPr>
              <a:t>Pidgin, abbreviation and spelling rules</a:t>
            </a:r>
            <a:endParaRPr lang="en-US" sz="1100" dirty="0"/>
          </a:p>
        </p:txBody>
      </p:sp>
      <p:sp>
        <p:nvSpPr>
          <p:cNvPr id="31" name="labelled test questions card"/>
          <p:cNvSpPr/>
          <p:nvPr/>
        </p:nvSpPr>
        <p:spPr>
          <a:xfrm>
            <a:off x="7040880" y="3035808"/>
            <a:ext cx="1463040" cy="1444752"/>
          </a:xfrm>
          <a:prstGeom prst="roundRect">
            <a:avLst>
              <a:gd name="adj" fmla="val 8861"/>
            </a:avLst>
          </a:prstGeom>
          <a:solidFill>
            <a:schemeClr val="bg1"/>
          </a:solidFill>
          <a:ln w="9525">
            <a:solidFill>
              <a:schemeClr val="accent5"/>
            </a:solidFill>
            <a:prstDash val="solid"/>
          </a:ln>
        </p:spPr>
      </p:sp>
      <p:pic>
        <p:nvPicPr>
          <p:cNvPr id="32" name="Image 3" descr="ListChecks icon">    </p:cNvPr>
          <p:cNvPicPr>
            <a:picLocks noChangeAspect="1"/>
          </p:cNvPicPr>
          <p:nvPr/>
        </p:nvPicPr>
        <p:blipFill>
          <a:blip r:embed="rId4"/>
          <a:stretch>
            <a:fillRect/>
          </a:stretch>
        </p:blipFill>
        <p:spPr>
          <a:xfrm>
            <a:off x="7223760" y="3200400"/>
            <a:ext cx="274320" cy="274320"/>
          </a:xfrm>
          <a:prstGeom prst="rect">
            <a:avLst/>
          </a:prstGeom>
        </p:spPr>
      </p:pic>
      <p:sp>
        <p:nvSpPr>
          <p:cNvPr id="33" name="Text 27"/>
          <p:cNvSpPr txBox="1"/>
          <p:nvPr/>
        </p:nvSpPr>
        <p:spPr>
          <a:xfrm>
            <a:off x="7223760" y="3493008"/>
            <a:ext cx="1188720" cy="502920"/>
          </a:xfrm>
          <a:prstGeom prst="rect">
            <a:avLst/>
          </a:prstGeom>
          <a:noFill/>
          <a:ln/>
        </p:spPr>
        <p:txBody>
          <a:bodyPr wrap="square" lIns="0" tIns="0" rIns="0" bIns="0" rtlCol="0" anchor="t"/>
          <a:lstStyle/>
          <a:p>
            <a:pPr indent="0" marL="0">
              <a:buNone/>
            </a:pPr>
            <a:r>
              <a:rPr lang="en-US" sz="3000" b="1" dirty="0">
                <a:solidFill>
                  <a:schemeClr val="accent1"/>
                </a:solidFill>
              </a:rPr>
              <a:t>60</a:t>
            </a:r>
            <a:endParaRPr lang="en-US" sz="3000" dirty="0"/>
          </a:p>
        </p:txBody>
      </p:sp>
      <p:sp>
        <p:nvSpPr>
          <p:cNvPr id="34" name="Text 28"/>
          <p:cNvSpPr txBox="1"/>
          <p:nvPr/>
        </p:nvSpPr>
        <p:spPr>
          <a:xfrm>
            <a:off x="7223760" y="3977640"/>
            <a:ext cx="1170432" cy="457200"/>
          </a:xfrm>
          <a:prstGeom prst="rect">
            <a:avLst/>
          </a:prstGeom>
          <a:noFill/>
          <a:ln/>
        </p:spPr>
        <p:txBody>
          <a:bodyPr wrap="square" lIns="0" tIns="0" rIns="0" bIns="0" rtlCol="0" anchor="t"/>
          <a:lstStyle/>
          <a:p>
            <a:pPr indent="0" marL="0">
              <a:buNone/>
            </a:pPr>
            <a:r>
              <a:rPr lang="en-US" sz="1100" dirty="0">
                <a:solidFill>
                  <a:schemeClr val="tx2"/>
                </a:solidFill>
              </a:rPr>
              <a:t>labelled test questions</a:t>
            </a:r>
            <a:endParaRPr lang="en-US" sz="1100" dirty="0"/>
          </a:p>
        </p:txBody>
      </p:sp>
      <p:sp>
        <p:nvSpPr>
          <p:cNvPr id="25" name="Slide Number Placeholder 0"/>
          <p:cNvSpPr>
            <a:spLocks noGrp="1"/>
          </p:cNvSpPr>
          <p:nvPr>
            <p:ph type="sldNum" sz="quarter" idx="4294967295"/>
          </p:nvPr>
        </p:nvSpPr>
        <p:spPr>
          <a:xfrm>
            <a:off x="8138160" y="4754880"/>
            <a:ext cx="457200" cy="219456"/>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046720" cy="274320"/>
          </a:xfrm>
          <a:prstGeom prst="rect">
            <a:avLst/>
          </a:prstGeom>
          <a:noFill/>
          <a:ln/>
        </p:spPr>
        <p:txBody>
          <a:bodyPr wrap="square" lIns="0" tIns="0" rIns="0" bIns="0" rtlCol="0" anchor="t"/>
          <a:lstStyle/>
          <a:p>
            <a:pPr algn="l" indent="0" marL="0">
              <a:buNone/>
            </a:pPr>
            <a:r>
              <a:rPr lang="en-US" sz="1200" b="1" spc="150" kern="0" dirty="0">
                <a:solidFill>
                  <a:schemeClr val="accent3"/>
                </a:solidFill>
              </a:rPr>
              <a:t>APPROACH</a:t>
            </a:r>
            <a:endParaRPr lang="en-US" sz="1200" dirty="0"/>
          </a:p>
        </p:txBody>
      </p:sp>
      <p:sp>
        <p:nvSpPr>
          <p:cNvPr id="3" name="Text 0"/>
          <p:cNvSpPr/>
          <p:nvPr>
            <p:ph idx="101" type="title" hasCustomPrompt="1"/>
          </p:nvPr>
        </p:nvSpPr>
        <p:spPr>
          <a:xfrm>
            <a:off x="548640" y="585216"/>
            <a:ext cx="8046720" cy="658368"/>
          </a:xfrm>
          <a:prstGeom prst="rect">
            <a:avLst/>
          </a:prstGeom>
          <a:noFill/>
          <a:ln/>
        </p:spPr>
        <p:txBody>
          <a:bodyPr wrap="square" lIns="0" tIns="0" rIns="0" bIns="0" rtlCol="0" anchor="t"/>
          <a:lstStyle/>
          <a:p>
            <a:pPr algn="l" indent="0" marL="0">
              <a:buNone/>
            </a:pPr>
            <a:r>
              <a:rPr lang="en-US" sz="3200" b="1" dirty="0">
                <a:solidFill>
                  <a:schemeClr val="tx1"/>
                </a:solidFill>
              </a:rPr>
              <a:t>Why retrieval, not generation</a:t>
            </a:r>
            <a:endParaRPr lang="en-US" sz="3200" dirty="0"/>
          </a:p>
        </p:txBody>
      </p:sp>
      <p:sp>
        <p:nvSpPr>
          <p:cNvPr id="4" name="Rule-based card"/>
          <p:cNvSpPr/>
          <p:nvPr/>
        </p:nvSpPr>
        <p:spPr>
          <a:xfrm>
            <a:off x="548640" y="1463040"/>
            <a:ext cx="2560320" cy="2788920"/>
          </a:xfrm>
          <a:prstGeom prst="roundRect">
            <a:avLst>
              <a:gd name="adj" fmla="val 5000"/>
            </a:avLst>
          </a:prstGeom>
          <a:solidFill>
            <a:schemeClr val="bg1"/>
          </a:solidFill>
          <a:ln w="9525">
            <a:solidFill>
              <a:schemeClr val="accent5"/>
            </a:solidFill>
            <a:prstDash val="solid"/>
          </a:ln>
        </p:spPr>
      </p:sp>
      <p:sp>
        <p:nvSpPr>
          <p:cNvPr id="5" name="Path circle"/>
          <p:cNvSpPr/>
          <p:nvPr/>
        </p:nvSpPr>
        <p:spPr>
          <a:xfrm>
            <a:off x="777240" y="1691640"/>
            <a:ext cx="457200" cy="457200"/>
          </a:xfrm>
          <a:prstGeom prst="ellipse">
            <a:avLst/>
          </a:prstGeom>
          <a:solidFill>
            <a:schemeClr val="tx2"/>
          </a:solidFill>
          <a:ln/>
        </p:spPr>
      </p:sp>
      <p:pic>
        <p:nvPicPr>
          <p:cNvPr id="6" name="Path icon" descr="Path icon">    </p:cNvPr>
          <p:cNvPicPr>
            <a:picLocks noChangeAspect="1"/>
          </p:cNvPicPr>
          <p:nvPr/>
        </p:nvPicPr>
        <p:blipFill>
          <a:blip r:embed="rId1"/>
          <a:stretch>
            <a:fillRect/>
          </a:stretch>
        </p:blipFill>
        <p:spPr>
          <a:xfrm>
            <a:off x="882396" y="1796796"/>
            <a:ext cx="246888" cy="246888"/>
          </a:xfrm>
          <a:prstGeom prst="rect">
            <a:avLst/>
          </a:prstGeom>
        </p:spPr>
      </p:pic>
      <p:sp>
        <p:nvSpPr>
          <p:cNvPr id="7" name="Text 4"/>
          <p:cNvSpPr txBox="1"/>
          <p:nvPr/>
        </p:nvSpPr>
        <p:spPr>
          <a:xfrm>
            <a:off x="777240" y="2267712"/>
            <a:ext cx="2148840" cy="347472"/>
          </a:xfrm>
          <a:prstGeom prst="rect">
            <a:avLst/>
          </a:prstGeom>
          <a:noFill/>
          <a:ln/>
        </p:spPr>
        <p:txBody>
          <a:bodyPr wrap="square" lIns="0" tIns="0" rIns="0" bIns="0" rtlCol="0" anchor="t"/>
          <a:lstStyle/>
          <a:p>
            <a:pPr indent="0" marL="0">
              <a:buNone/>
            </a:pPr>
            <a:r>
              <a:rPr lang="en-US" sz="1800" b="1" dirty="0">
                <a:solidFill>
                  <a:schemeClr val="tx1"/>
                </a:solidFill>
              </a:rPr>
              <a:t>Rule-based</a:t>
            </a:r>
            <a:endParaRPr lang="en-US" sz="1800" dirty="0"/>
          </a:p>
        </p:txBody>
      </p:sp>
      <p:sp>
        <p:nvSpPr>
          <p:cNvPr id="8" name="Text 5"/>
          <p:cNvSpPr txBox="1"/>
          <p:nvPr/>
        </p:nvSpPr>
        <p:spPr>
          <a:xfrm>
            <a:off x="777240" y="2615184"/>
            <a:ext cx="2148840" cy="274320"/>
          </a:xfrm>
          <a:prstGeom prst="rect">
            <a:avLst/>
          </a:prstGeom>
          <a:noFill/>
          <a:ln/>
        </p:spPr>
        <p:txBody>
          <a:bodyPr wrap="square" lIns="0" tIns="0" rIns="0" bIns="0" rtlCol="0" anchor="t"/>
          <a:lstStyle/>
          <a:p>
            <a:pPr indent="0" marL="0">
              <a:buNone/>
            </a:pPr>
            <a:r>
              <a:rPr lang="en-US" sz="1200" i="1" dirty="0">
                <a:solidFill>
                  <a:schemeClr val="tx2"/>
                </a:solidFill>
              </a:rPr>
              <a:t>ELIZA, AIML bots</a:t>
            </a:r>
            <a:endParaRPr lang="en-US" sz="1200" dirty="0"/>
          </a:p>
        </p:txBody>
      </p:sp>
      <p:sp>
        <p:nvSpPr>
          <p:cNvPr id="9" name="Text 6"/>
          <p:cNvSpPr txBox="1"/>
          <p:nvPr/>
        </p:nvSpPr>
        <p:spPr>
          <a:xfrm>
            <a:off x="777240" y="2971800"/>
            <a:ext cx="2194560" cy="118872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Hand-written patterns</a:t>
            </a:r>
            <a:endParaRPr lang="en-US" sz="1400" dirty="0"/>
          </a:p>
          <a:p>
            <a:pPr marL="177800" indent="-177800">
              <a:spcAft>
                <a:spcPts val="500"/>
              </a:spcAft>
              <a:buSzPct val="100000"/>
              <a:buChar char="•"/>
            </a:pPr>
            <a:r>
              <a:rPr lang="en-US" sz="1400" dirty="0">
                <a:solidFill>
                  <a:schemeClr val="tx1"/>
                </a:solidFill>
              </a:rPr>
              <a:t>Fails on new wording</a:t>
            </a:r>
            <a:endParaRPr lang="en-US" sz="1400" dirty="0"/>
          </a:p>
          <a:p>
            <a:pPr marL="177800" indent="-177800">
              <a:spcAft>
                <a:spcPts val="500"/>
              </a:spcAft>
              <a:buSzPct val="100000"/>
              <a:buChar char="•"/>
            </a:pPr>
            <a:r>
              <a:rPr lang="en-US" sz="1400" dirty="0">
                <a:solidFill>
                  <a:schemeClr val="tx1"/>
                </a:solidFill>
              </a:rPr>
              <a:t>Many templates</a:t>
            </a:r>
            <a:endParaRPr lang="en-US" sz="1400" dirty="0"/>
          </a:p>
        </p:txBody>
      </p:sp>
      <p:sp>
        <p:nvSpPr>
          <p:cNvPr id="10" name="Retrieval-based card"/>
          <p:cNvSpPr/>
          <p:nvPr/>
        </p:nvSpPr>
        <p:spPr>
          <a:xfrm>
            <a:off x="3291840" y="1463040"/>
            <a:ext cx="2560320" cy="2788920"/>
          </a:xfrm>
          <a:prstGeom prst="roundRect">
            <a:avLst>
              <a:gd name="adj" fmla="val 5000"/>
            </a:avLst>
          </a:prstGeom>
          <a:solidFill>
            <a:schemeClr val="accent4"/>
          </a:solidFill>
          <a:ln w="19050">
            <a:solidFill>
              <a:schemeClr val="accent1"/>
            </a:solidFill>
            <a:prstDash val="solid"/>
          </a:ln>
        </p:spPr>
      </p:sp>
      <p:sp>
        <p:nvSpPr>
          <p:cNvPr id="11" name="FileMagnifyingGlass circle"/>
          <p:cNvSpPr/>
          <p:nvPr/>
        </p:nvSpPr>
        <p:spPr>
          <a:xfrm>
            <a:off x="3520440" y="1691640"/>
            <a:ext cx="457200" cy="457200"/>
          </a:xfrm>
          <a:prstGeom prst="ellipse">
            <a:avLst/>
          </a:prstGeom>
          <a:solidFill>
            <a:schemeClr val="accent1"/>
          </a:solidFill>
          <a:ln/>
        </p:spPr>
      </p:sp>
      <p:pic>
        <p:nvPicPr>
          <p:cNvPr id="12" name="FileMagnifyingGlass icon" descr="FileMagnifyingGlass icon">    </p:cNvPr>
          <p:cNvPicPr>
            <a:picLocks noChangeAspect="1"/>
          </p:cNvPicPr>
          <p:nvPr/>
        </p:nvPicPr>
        <p:blipFill>
          <a:blip r:embed="rId2"/>
          <a:stretch>
            <a:fillRect/>
          </a:stretch>
        </p:blipFill>
        <p:spPr>
          <a:xfrm>
            <a:off x="3625596" y="1796796"/>
            <a:ext cx="246888" cy="246888"/>
          </a:xfrm>
          <a:prstGeom prst="rect">
            <a:avLst/>
          </a:prstGeom>
        </p:spPr>
      </p:pic>
      <p:sp>
        <p:nvSpPr>
          <p:cNvPr id="13" name="Chosen badge"/>
          <p:cNvSpPr/>
          <p:nvPr/>
        </p:nvSpPr>
        <p:spPr>
          <a:xfrm>
            <a:off x="4709160" y="1737360"/>
            <a:ext cx="914400" cy="292608"/>
          </a:xfrm>
          <a:prstGeom prst="roundRect">
            <a:avLst>
              <a:gd name="adj" fmla="val 50000"/>
            </a:avLst>
          </a:prstGeom>
          <a:solidFill>
            <a:schemeClr val="accent1"/>
          </a:solidFill>
          <a:ln/>
        </p:spPr>
      </p:sp>
      <p:sp>
        <p:nvSpPr>
          <p:cNvPr id="14" name="Text 10"/>
          <p:cNvSpPr txBox="1"/>
          <p:nvPr/>
        </p:nvSpPr>
        <p:spPr>
          <a:xfrm>
            <a:off x="4709160" y="1737360"/>
            <a:ext cx="914400" cy="292608"/>
          </a:xfrm>
          <a:prstGeom prst="rect">
            <a:avLst/>
          </a:prstGeom>
          <a:noFill/>
          <a:ln/>
        </p:spPr>
        <p:txBody>
          <a:bodyPr wrap="square" lIns="0" tIns="0" rIns="0" bIns="0" rtlCol="0" anchor="ctr"/>
          <a:lstStyle/>
          <a:p>
            <a:pPr algn="ctr" indent="0" marL="0">
              <a:buNone/>
            </a:pPr>
            <a:r>
              <a:rPr lang="en-US" sz="1200" b="1" dirty="0">
                <a:solidFill>
                  <a:schemeClr val="bg1"/>
                </a:solidFill>
              </a:rPr>
              <a:t>Chosen</a:t>
            </a:r>
            <a:endParaRPr lang="en-US" sz="1200" dirty="0"/>
          </a:p>
        </p:txBody>
      </p:sp>
      <p:sp>
        <p:nvSpPr>
          <p:cNvPr id="15" name="Text 11"/>
          <p:cNvSpPr txBox="1"/>
          <p:nvPr/>
        </p:nvSpPr>
        <p:spPr>
          <a:xfrm>
            <a:off x="3520440" y="2267712"/>
            <a:ext cx="2148840" cy="347472"/>
          </a:xfrm>
          <a:prstGeom prst="rect">
            <a:avLst/>
          </a:prstGeom>
          <a:noFill/>
          <a:ln/>
        </p:spPr>
        <p:txBody>
          <a:bodyPr wrap="square" lIns="0" tIns="0" rIns="0" bIns="0" rtlCol="0" anchor="t"/>
          <a:lstStyle/>
          <a:p>
            <a:pPr indent="0" marL="0">
              <a:buNone/>
            </a:pPr>
            <a:r>
              <a:rPr lang="en-US" sz="1800" b="1" dirty="0">
                <a:solidFill>
                  <a:schemeClr val="tx1"/>
                </a:solidFill>
              </a:rPr>
              <a:t>Retrieval-based</a:t>
            </a:r>
            <a:endParaRPr lang="en-US" sz="1800" dirty="0"/>
          </a:p>
        </p:txBody>
      </p:sp>
      <p:sp>
        <p:nvSpPr>
          <p:cNvPr id="16" name="Text 12"/>
          <p:cNvSpPr txBox="1"/>
          <p:nvPr/>
        </p:nvSpPr>
        <p:spPr>
          <a:xfrm>
            <a:off x="3520440" y="2615184"/>
            <a:ext cx="2148840" cy="274320"/>
          </a:xfrm>
          <a:prstGeom prst="rect">
            <a:avLst/>
          </a:prstGeom>
          <a:noFill/>
          <a:ln/>
        </p:spPr>
        <p:txBody>
          <a:bodyPr wrap="square" lIns="0" tIns="0" rIns="0" bIns="0" rtlCol="0" anchor="t"/>
          <a:lstStyle/>
          <a:p>
            <a:pPr indent="0" marL="0">
              <a:buNone/>
            </a:pPr>
            <a:r>
              <a:rPr lang="en-US" sz="1200" i="1" dirty="0">
                <a:solidFill>
                  <a:schemeClr val="tx2"/>
                </a:solidFill>
              </a:rPr>
              <a:t>This project</a:t>
            </a:r>
            <a:endParaRPr lang="en-US" sz="1200" dirty="0"/>
          </a:p>
        </p:txBody>
      </p:sp>
      <p:sp>
        <p:nvSpPr>
          <p:cNvPr id="17" name="Text 13"/>
          <p:cNvSpPr txBox="1"/>
          <p:nvPr/>
        </p:nvSpPr>
        <p:spPr>
          <a:xfrm>
            <a:off x="3520440" y="2971800"/>
            <a:ext cx="2194560" cy="118872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Picks a checked answer</a:t>
            </a:r>
            <a:endParaRPr lang="en-US" sz="1400" dirty="0"/>
          </a:p>
          <a:p>
            <a:pPr marL="177800" indent="-177800">
              <a:spcAft>
                <a:spcPts val="500"/>
              </a:spcAft>
              <a:buSzPct val="100000"/>
              <a:buChar char="•"/>
            </a:pPr>
            <a:r>
              <a:rPr lang="en-US" sz="1400" dirty="0">
                <a:solidFill>
                  <a:schemeClr val="tx1"/>
                </a:solidFill>
              </a:rPr>
              <a:t>Shows the official source</a:t>
            </a:r>
            <a:endParaRPr lang="en-US" sz="1400" dirty="0"/>
          </a:p>
          <a:p>
            <a:pPr marL="177800" indent="-177800">
              <a:spcAft>
                <a:spcPts val="500"/>
              </a:spcAft>
              <a:buSzPct val="100000"/>
              <a:buChar char="•"/>
            </a:pPr>
            <a:r>
              <a:rPr lang="en-US" sz="1400" dirty="0">
                <a:solidFill>
                  <a:schemeClr val="tx1"/>
                </a:solidFill>
              </a:rPr>
              <a:t>Testable, offline, free</a:t>
            </a:r>
            <a:endParaRPr lang="en-US" sz="1400" dirty="0"/>
          </a:p>
        </p:txBody>
      </p:sp>
      <p:sp>
        <p:nvSpPr>
          <p:cNvPr id="18" name="Generative card"/>
          <p:cNvSpPr/>
          <p:nvPr/>
        </p:nvSpPr>
        <p:spPr>
          <a:xfrm>
            <a:off x="6035040" y="1463040"/>
            <a:ext cx="2560320" cy="2788920"/>
          </a:xfrm>
          <a:prstGeom prst="roundRect">
            <a:avLst>
              <a:gd name="adj" fmla="val 5000"/>
            </a:avLst>
          </a:prstGeom>
          <a:solidFill>
            <a:schemeClr val="bg1"/>
          </a:solidFill>
          <a:ln w="9525">
            <a:solidFill>
              <a:schemeClr val="accent5"/>
            </a:solidFill>
            <a:prstDash val="solid"/>
          </a:ln>
        </p:spPr>
      </p:sp>
      <p:sp>
        <p:nvSpPr>
          <p:cNvPr id="19" name="Sparkle circle"/>
          <p:cNvSpPr/>
          <p:nvPr/>
        </p:nvSpPr>
        <p:spPr>
          <a:xfrm>
            <a:off x="6263640" y="1691640"/>
            <a:ext cx="457200" cy="457200"/>
          </a:xfrm>
          <a:prstGeom prst="ellipse">
            <a:avLst/>
          </a:prstGeom>
          <a:solidFill>
            <a:schemeClr val="tx2"/>
          </a:solidFill>
          <a:ln/>
        </p:spPr>
      </p:sp>
      <p:pic>
        <p:nvPicPr>
          <p:cNvPr id="20" name="Sparkle icon" descr="Sparkle icon">    </p:cNvPr>
          <p:cNvPicPr>
            <a:picLocks noChangeAspect="1"/>
          </p:cNvPicPr>
          <p:nvPr/>
        </p:nvPicPr>
        <p:blipFill>
          <a:blip r:embed="rId3"/>
          <a:stretch>
            <a:fillRect/>
          </a:stretch>
        </p:blipFill>
        <p:spPr>
          <a:xfrm>
            <a:off x="6368796" y="1796796"/>
            <a:ext cx="246888" cy="246888"/>
          </a:xfrm>
          <a:prstGeom prst="rect">
            <a:avLst/>
          </a:prstGeom>
        </p:spPr>
      </p:pic>
      <p:sp>
        <p:nvSpPr>
          <p:cNvPr id="21" name="Text 16"/>
          <p:cNvSpPr txBox="1"/>
          <p:nvPr/>
        </p:nvSpPr>
        <p:spPr>
          <a:xfrm>
            <a:off x="6263640" y="2267712"/>
            <a:ext cx="2148840" cy="347472"/>
          </a:xfrm>
          <a:prstGeom prst="rect">
            <a:avLst/>
          </a:prstGeom>
          <a:noFill/>
          <a:ln/>
        </p:spPr>
        <p:txBody>
          <a:bodyPr wrap="square" lIns="0" tIns="0" rIns="0" bIns="0" rtlCol="0" anchor="t"/>
          <a:lstStyle/>
          <a:p>
            <a:pPr indent="0" marL="0">
              <a:buNone/>
            </a:pPr>
            <a:r>
              <a:rPr lang="en-US" sz="1800" b="1" dirty="0">
                <a:solidFill>
                  <a:schemeClr val="tx1"/>
                </a:solidFill>
              </a:rPr>
              <a:t>Generative</a:t>
            </a:r>
            <a:endParaRPr lang="en-US" sz="1800" dirty="0"/>
          </a:p>
        </p:txBody>
      </p:sp>
      <p:sp>
        <p:nvSpPr>
          <p:cNvPr id="22" name="Text 17"/>
          <p:cNvSpPr txBox="1"/>
          <p:nvPr/>
        </p:nvSpPr>
        <p:spPr>
          <a:xfrm>
            <a:off x="6263640" y="2615184"/>
            <a:ext cx="2148840" cy="274320"/>
          </a:xfrm>
          <a:prstGeom prst="rect">
            <a:avLst/>
          </a:prstGeom>
          <a:noFill/>
          <a:ln/>
        </p:spPr>
        <p:txBody>
          <a:bodyPr wrap="square" lIns="0" tIns="0" rIns="0" bIns="0" rtlCol="0" anchor="t"/>
          <a:lstStyle/>
          <a:p>
            <a:pPr indent="0" marL="0">
              <a:buNone/>
            </a:pPr>
            <a:r>
              <a:rPr lang="en-US" sz="1200" i="1" dirty="0">
                <a:solidFill>
                  <a:schemeClr val="tx2"/>
                </a:solidFill>
              </a:rPr>
              <a:t>ChatGPT-style models</a:t>
            </a:r>
            <a:endParaRPr lang="en-US" sz="1200" dirty="0"/>
          </a:p>
        </p:txBody>
      </p:sp>
      <p:sp>
        <p:nvSpPr>
          <p:cNvPr id="23" name="Text 18"/>
          <p:cNvSpPr txBox="1"/>
          <p:nvPr/>
        </p:nvSpPr>
        <p:spPr>
          <a:xfrm>
            <a:off x="6263640" y="2971800"/>
            <a:ext cx="2194560" cy="118872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Fluent, flexible replies</a:t>
            </a:r>
            <a:endParaRPr lang="en-US" sz="1400" dirty="0"/>
          </a:p>
          <a:p>
            <a:pPr marL="177800" indent="-177800">
              <a:spcAft>
                <a:spcPts val="500"/>
              </a:spcAft>
              <a:buSzPct val="100000"/>
              <a:buChar char="•"/>
            </a:pPr>
            <a:r>
              <a:rPr lang="en-US" sz="1400" dirty="0">
                <a:solidFill>
                  <a:schemeClr val="tx1"/>
                </a:solidFill>
              </a:rPr>
              <a:t>Can invent fees and dates</a:t>
            </a:r>
            <a:endParaRPr lang="en-US" sz="1400" dirty="0"/>
          </a:p>
          <a:p>
            <a:pPr marL="177800" indent="-177800">
              <a:spcAft>
                <a:spcPts val="500"/>
              </a:spcAft>
              <a:buSzPct val="100000"/>
              <a:buChar char="•"/>
            </a:pPr>
            <a:r>
              <a:rPr lang="en-US" sz="1400" dirty="0">
                <a:solidFill>
                  <a:schemeClr val="tx1"/>
                </a:solidFill>
              </a:rPr>
              <a:t>Needs internet, API fees</a:t>
            </a:r>
            <a:endParaRPr lang="en-US" sz="1400" dirty="0"/>
          </a:p>
        </p:txBody>
      </p:sp>
      <p:sp>
        <p:nvSpPr>
          <p:cNvPr id="24" name="Text 19"/>
          <p:cNvSpPr txBox="1"/>
          <p:nvPr/>
        </p:nvSpPr>
        <p:spPr>
          <a:xfrm>
            <a:off x="548640" y="4370832"/>
            <a:ext cx="8046720" cy="274320"/>
          </a:xfrm>
          <a:prstGeom prst="rect">
            <a:avLst/>
          </a:prstGeom>
          <a:noFill/>
          <a:ln/>
        </p:spPr>
        <p:txBody>
          <a:bodyPr wrap="square" lIns="0" tIns="0" rIns="0" bIns="0" rtlCol="0" anchor="t"/>
          <a:lstStyle/>
          <a:p>
            <a:pPr indent="0" marL="0">
              <a:buNone/>
            </a:pPr>
            <a:r>
              <a:rPr lang="en-US" sz="1200" dirty="0">
                <a:solidFill>
                  <a:schemeClr val="tx2"/>
                </a:solidFill>
              </a:rPr>
              <a:t>Developed by incremental prototyping in five increments, modelled with UML and data flow diagrams.</a:t>
            </a:r>
            <a:endParaRPr lang="en-US" sz="1200" dirty="0"/>
          </a:p>
        </p:txBody>
      </p:sp>
      <p:sp>
        <p:nvSpPr>
          <p:cNvPr id="25" name="Slide Number Placeholder 0"/>
          <p:cNvSpPr>
            <a:spLocks noGrp="1"/>
          </p:cNvSpPr>
          <p:nvPr>
            <p:ph type="sldNum" sz="quarter" idx="4294967295"/>
          </p:nvPr>
        </p:nvSpPr>
        <p:spPr>
          <a:xfrm>
            <a:off x="8138160" y="4754880"/>
            <a:ext cx="457200" cy="219456"/>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046720" cy="274320"/>
          </a:xfrm>
          <a:prstGeom prst="rect">
            <a:avLst/>
          </a:prstGeom>
          <a:noFill/>
          <a:ln/>
        </p:spPr>
        <p:txBody>
          <a:bodyPr wrap="square" lIns="0" tIns="0" rIns="0" bIns="0" rtlCol="0" anchor="t"/>
          <a:lstStyle/>
          <a:p>
            <a:pPr algn="l" indent="0" marL="0">
              <a:buNone/>
            </a:pPr>
            <a:r>
              <a:rPr lang="en-US" sz="1200" b="1" spc="150" kern="0" dirty="0">
                <a:solidFill>
                  <a:schemeClr val="accent3"/>
                </a:solidFill>
              </a:rPr>
              <a:t>HOW IT WORKS</a:t>
            </a:r>
            <a:endParaRPr lang="en-US" sz="1200" dirty="0"/>
          </a:p>
        </p:txBody>
      </p:sp>
      <p:sp>
        <p:nvSpPr>
          <p:cNvPr id="3" name="Text 0"/>
          <p:cNvSpPr/>
          <p:nvPr>
            <p:ph idx="101" type="title" hasCustomPrompt="1"/>
          </p:nvPr>
        </p:nvSpPr>
        <p:spPr>
          <a:xfrm>
            <a:off x="548640" y="585216"/>
            <a:ext cx="8046720" cy="658368"/>
          </a:xfrm>
          <a:prstGeom prst="rect">
            <a:avLst/>
          </a:prstGeom>
          <a:noFill/>
          <a:ln/>
        </p:spPr>
        <p:txBody>
          <a:bodyPr wrap="square" lIns="0" tIns="0" rIns="0" bIns="0" rtlCol="0" anchor="t"/>
          <a:lstStyle/>
          <a:p>
            <a:pPr algn="l" indent="0" marL="0">
              <a:buNone/>
            </a:pPr>
            <a:r>
              <a:rPr lang="en-US" sz="3200" b="1" dirty="0">
                <a:solidFill>
                  <a:schemeClr val="tx1"/>
                </a:solidFill>
              </a:rPr>
              <a:t>Seven steps from message to answer</a:t>
            </a:r>
            <a:endParaRPr lang="en-US" sz="3200" dirty="0"/>
          </a:p>
        </p:txBody>
      </p:sp>
      <p:sp>
        <p:nvSpPr>
          <p:cNvPr id="4" name="TextAa circle"/>
          <p:cNvSpPr/>
          <p:nvPr/>
        </p:nvSpPr>
        <p:spPr>
          <a:xfrm>
            <a:off x="548640" y="1444752"/>
            <a:ext cx="347472" cy="347472"/>
          </a:xfrm>
          <a:prstGeom prst="ellipse">
            <a:avLst/>
          </a:prstGeom>
          <a:solidFill>
            <a:schemeClr val="accent1"/>
          </a:solidFill>
          <a:ln/>
        </p:spPr>
      </p:sp>
      <p:pic>
        <p:nvPicPr>
          <p:cNvPr id="5" name="TextAa icon" descr="TextAa icon">    </p:cNvPr>
          <p:cNvPicPr>
            <a:picLocks noChangeAspect="1"/>
          </p:cNvPicPr>
          <p:nvPr/>
        </p:nvPicPr>
        <p:blipFill>
          <a:blip r:embed="rId1"/>
          <a:stretch>
            <a:fillRect/>
          </a:stretch>
        </p:blipFill>
        <p:spPr>
          <a:xfrm>
            <a:off x="628559" y="1524671"/>
            <a:ext cx="187635" cy="187635"/>
          </a:xfrm>
          <a:prstGeom prst="rect">
            <a:avLst/>
          </a:prstGeom>
        </p:spPr>
      </p:pic>
      <p:sp>
        <p:nvSpPr>
          <p:cNvPr id="6" name="Text 3"/>
          <p:cNvSpPr txBox="1"/>
          <p:nvPr/>
        </p:nvSpPr>
        <p:spPr>
          <a:xfrm>
            <a:off x="1042416" y="1417320"/>
            <a:ext cx="1874520" cy="402336"/>
          </a:xfrm>
          <a:prstGeom prst="rect">
            <a:avLst/>
          </a:prstGeom>
          <a:noFill/>
          <a:ln/>
        </p:spPr>
        <p:txBody>
          <a:bodyPr wrap="square" lIns="0" tIns="0" rIns="0" bIns="0" rtlCol="0" anchor="ctr"/>
          <a:lstStyle/>
          <a:p>
            <a:pPr indent="0" marL="0">
              <a:buNone/>
            </a:pPr>
            <a:r>
              <a:rPr lang="en-US" sz="1400" b="1" dirty="0">
                <a:solidFill>
                  <a:schemeClr val="tx1"/>
                </a:solidFill>
              </a:rPr>
              <a:t>1. Clean</a:t>
            </a:r>
            <a:endParaRPr lang="en-US" sz="1400" dirty="0"/>
          </a:p>
        </p:txBody>
      </p:sp>
      <p:sp>
        <p:nvSpPr>
          <p:cNvPr id="7" name="Text 4"/>
          <p:cNvSpPr txBox="1"/>
          <p:nvPr/>
        </p:nvSpPr>
        <p:spPr>
          <a:xfrm>
            <a:off x="2944368" y="1417320"/>
            <a:ext cx="2240280" cy="402336"/>
          </a:xfrm>
          <a:prstGeom prst="rect">
            <a:avLst/>
          </a:prstGeom>
          <a:noFill/>
          <a:ln/>
        </p:spPr>
        <p:txBody>
          <a:bodyPr wrap="square" lIns="0" tIns="0" rIns="0" bIns="0" rtlCol="0" anchor="ctr"/>
          <a:lstStyle/>
          <a:p>
            <a:pPr indent="0" marL="0">
              <a:buNone/>
            </a:pPr>
            <a:r>
              <a:rPr lang="en-US" sz="1200" dirty="0">
                <a:solidFill>
                  <a:schemeClr val="tx2"/>
                </a:solidFill>
              </a:rPr>
              <a:t>lower case, no punctuation</a:t>
            </a:r>
            <a:endParaRPr lang="en-US" sz="1200" dirty="0"/>
          </a:p>
        </p:txBody>
      </p:sp>
      <p:sp>
        <p:nvSpPr>
          <p:cNvPr id="8" name="Eraser circle"/>
          <p:cNvSpPr/>
          <p:nvPr/>
        </p:nvSpPr>
        <p:spPr>
          <a:xfrm>
            <a:off x="548640" y="1901952"/>
            <a:ext cx="347472" cy="347472"/>
          </a:xfrm>
          <a:prstGeom prst="ellipse">
            <a:avLst/>
          </a:prstGeom>
          <a:solidFill>
            <a:schemeClr val="accent1"/>
          </a:solidFill>
          <a:ln/>
        </p:spPr>
      </p:sp>
      <p:pic>
        <p:nvPicPr>
          <p:cNvPr id="9" name="Eraser icon" descr="Eraser icon">    </p:cNvPr>
          <p:cNvPicPr>
            <a:picLocks noChangeAspect="1"/>
          </p:cNvPicPr>
          <p:nvPr/>
        </p:nvPicPr>
        <p:blipFill>
          <a:blip r:embed="rId2"/>
          <a:stretch>
            <a:fillRect/>
          </a:stretch>
        </p:blipFill>
        <p:spPr>
          <a:xfrm>
            <a:off x="628559" y="1981871"/>
            <a:ext cx="187635" cy="187635"/>
          </a:xfrm>
          <a:prstGeom prst="rect">
            <a:avLst/>
          </a:prstGeom>
        </p:spPr>
      </p:pic>
      <p:sp>
        <p:nvSpPr>
          <p:cNvPr id="10" name="Text 6"/>
          <p:cNvSpPr txBox="1"/>
          <p:nvPr/>
        </p:nvSpPr>
        <p:spPr>
          <a:xfrm>
            <a:off x="1042416" y="1874520"/>
            <a:ext cx="1874520" cy="402336"/>
          </a:xfrm>
          <a:prstGeom prst="rect">
            <a:avLst/>
          </a:prstGeom>
          <a:noFill/>
          <a:ln/>
        </p:spPr>
        <p:txBody>
          <a:bodyPr wrap="square" lIns="0" tIns="0" rIns="0" bIns="0" rtlCol="0" anchor="ctr"/>
          <a:lstStyle/>
          <a:p>
            <a:pPr indent="0" marL="0">
              <a:buNone/>
            </a:pPr>
            <a:r>
              <a:rPr lang="en-US" sz="1400" b="1" dirty="0">
                <a:solidFill>
                  <a:schemeClr val="tx1"/>
                </a:solidFill>
              </a:rPr>
              <a:t>2. Fix typos</a:t>
            </a:r>
            <a:endParaRPr lang="en-US" sz="1400" dirty="0"/>
          </a:p>
        </p:txBody>
      </p:sp>
      <p:sp>
        <p:nvSpPr>
          <p:cNvPr id="11" name="Text 7"/>
          <p:cNvSpPr txBox="1"/>
          <p:nvPr/>
        </p:nvSpPr>
        <p:spPr>
          <a:xfrm>
            <a:off x="2944368" y="1874520"/>
            <a:ext cx="2240280" cy="402336"/>
          </a:xfrm>
          <a:prstGeom prst="rect">
            <a:avLst/>
          </a:prstGeom>
          <a:noFill/>
          <a:ln/>
        </p:spPr>
        <p:txBody>
          <a:bodyPr wrap="square" lIns="0" tIns="0" rIns="0" bIns="0" rtlCol="0" anchor="ctr"/>
          <a:lstStyle/>
          <a:p>
            <a:pPr indent="0" marL="0">
              <a:buNone/>
            </a:pPr>
            <a:r>
              <a:rPr lang="en-US" sz="1200" dirty="0">
                <a:solidFill>
                  <a:schemeClr val="tx2"/>
                </a:solidFill>
              </a:rPr>
              <a:t>nearest known word</a:t>
            </a:r>
            <a:endParaRPr lang="en-US" sz="1200" dirty="0"/>
          </a:p>
        </p:txBody>
      </p:sp>
      <p:sp>
        <p:nvSpPr>
          <p:cNvPr id="12" name="Translate circle"/>
          <p:cNvSpPr/>
          <p:nvPr/>
        </p:nvSpPr>
        <p:spPr>
          <a:xfrm>
            <a:off x="548640" y="2359152"/>
            <a:ext cx="347472" cy="347472"/>
          </a:xfrm>
          <a:prstGeom prst="ellipse">
            <a:avLst/>
          </a:prstGeom>
          <a:solidFill>
            <a:schemeClr val="accent1"/>
          </a:solidFill>
          <a:ln/>
        </p:spPr>
      </p:sp>
      <p:pic>
        <p:nvPicPr>
          <p:cNvPr id="13" name="Translate icon" descr="Translate icon">    </p:cNvPr>
          <p:cNvPicPr>
            <a:picLocks noChangeAspect="1"/>
          </p:cNvPicPr>
          <p:nvPr/>
        </p:nvPicPr>
        <p:blipFill>
          <a:blip r:embed="rId3"/>
          <a:stretch>
            <a:fillRect/>
          </a:stretch>
        </p:blipFill>
        <p:spPr>
          <a:xfrm>
            <a:off x="628559" y="2439071"/>
            <a:ext cx="187635" cy="187635"/>
          </a:xfrm>
          <a:prstGeom prst="rect">
            <a:avLst/>
          </a:prstGeom>
        </p:spPr>
      </p:pic>
      <p:sp>
        <p:nvSpPr>
          <p:cNvPr id="14" name="Text 9"/>
          <p:cNvSpPr txBox="1"/>
          <p:nvPr/>
        </p:nvSpPr>
        <p:spPr>
          <a:xfrm>
            <a:off x="1042416" y="2331720"/>
            <a:ext cx="1874520" cy="402336"/>
          </a:xfrm>
          <a:prstGeom prst="rect">
            <a:avLst/>
          </a:prstGeom>
          <a:noFill/>
          <a:ln/>
        </p:spPr>
        <p:txBody>
          <a:bodyPr wrap="square" lIns="0" tIns="0" rIns="0" bIns="0" rtlCol="0" anchor="ctr"/>
          <a:lstStyle/>
          <a:p>
            <a:pPr indent="0" marL="0">
              <a:buNone/>
            </a:pPr>
            <a:r>
              <a:rPr lang="en-US" sz="1400" b="1" dirty="0">
                <a:solidFill>
                  <a:schemeClr val="tx1"/>
                </a:solidFill>
              </a:rPr>
              <a:t>3. Language rules</a:t>
            </a:r>
            <a:endParaRPr lang="en-US" sz="1400" dirty="0"/>
          </a:p>
        </p:txBody>
      </p:sp>
      <p:sp>
        <p:nvSpPr>
          <p:cNvPr id="15" name="Text 10"/>
          <p:cNvSpPr txBox="1"/>
          <p:nvPr/>
        </p:nvSpPr>
        <p:spPr>
          <a:xfrm>
            <a:off x="2944368" y="2331720"/>
            <a:ext cx="2240280" cy="402336"/>
          </a:xfrm>
          <a:prstGeom prst="rect">
            <a:avLst/>
          </a:prstGeom>
          <a:noFill/>
          <a:ln/>
        </p:spPr>
        <p:txBody>
          <a:bodyPr wrap="square" lIns="0" tIns="0" rIns="0" bIns="0" rtlCol="0" anchor="ctr"/>
          <a:lstStyle/>
          <a:p>
            <a:pPr indent="0" marL="0">
              <a:buNone/>
            </a:pPr>
            <a:r>
              <a:rPr lang="en-US" sz="1200" dirty="0">
                <a:solidFill>
                  <a:schemeClr val="tx2"/>
                </a:solidFill>
              </a:rPr>
              <a:t>Pidgin, short forms, synonyms</a:t>
            </a:r>
            <a:endParaRPr lang="en-US" sz="1200" dirty="0"/>
          </a:p>
        </p:txBody>
      </p:sp>
      <p:sp>
        <p:nvSpPr>
          <p:cNvPr id="16" name="Funnel circle"/>
          <p:cNvSpPr/>
          <p:nvPr/>
        </p:nvSpPr>
        <p:spPr>
          <a:xfrm>
            <a:off x="548640" y="2816352"/>
            <a:ext cx="347472" cy="347472"/>
          </a:xfrm>
          <a:prstGeom prst="ellipse">
            <a:avLst/>
          </a:prstGeom>
          <a:solidFill>
            <a:schemeClr val="accent1"/>
          </a:solidFill>
          <a:ln/>
        </p:spPr>
      </p:sp>
      <p:pic>
        <p:nvPicPr>
          <p:cNvPr id="17" name="Funnel icon" descr="Funnel icon">    </p:cNvPr>
          <p:cNvPicPr>
            <a:picLocks noChangeAspect="1"/>
          </p:cNvPicPr>
          <p:nvPr/>
        </p:nvPicPr>
        <p:blipFill>
          <a:blip r:embed="rId4"/>
          <a:stretch>
            <a:fillRect/>
          </a:stretch>
        </p:blipFill>
        <p:spPr>
          <a:xfrm>
            <a:off x="628559" y="2896271"/>
            <a:ext cx="187635" cy="187635"/>
          </a:xfrm>
          <a:prstGeom prst="rect">
            <a:avLst/>
          </a:prstGeom>
        </p:spPr>
      </p:pic>
      <p:sp>
        <p:nvSpPr>
          <p:cNvPr id="18" name="Text 12"/>
          <p:cNvSpPr txBox="1"/>
          <p:nvPr/>
        </p:nvSpPr>
        <p:spPr>
          <a:xfrm>
            <a:off x="1042416" y="2788920"/>
            <a:ext cx="1874520" cy="402336"/>
          </a:xfrm>
          <a:prstGeom prst="rect">
            <a:avLst/>
          </a:prstGeom>
          <a:noFill/>
          <a:ln/>
        </p:spPr>
        <p:txBody>
          <a:bodyPr wrap="square" lIns="0" tIns="0" rIns="0" bIns="0" rtlCol="0" anchor="ctr"/>
          <a:lstStyle/>
          <a:p>
            <a:pPr indent="0" marL="0">
              <a:buNone/>
            </a:pPr>
            <a:r>
              <a:rPr lang="en-US" sz="1400" b="1" dirty="0">
                <a:solidFill>
                  <a:schemeClr val="tx1"/>
                </a:solidFill>
              </a:rPr>
              <a:t>4. Remove stopwords</a:t>
            </a:r>
            <a:endParaRPr lang="en-US" sz="1400" dirty="0"/>
          </a:p>
        </p:txBody>
      </p:sp>
      <p:sp>
        <p:nvSpPr>
          <p:cNvPr id="19" name="Text 13"/>
          <p:cNvSpPr txBox="1"/>
          <p:nvPr/>
        </p:nvSpPr>
        <p:spPr>
          <a:xfrm>
            <a:off x="2944368" y="2788920"/>
            <a:ext cx="2240280" cy="402336"/>
          </a:xfrm>
          <a:prstGeom prst="rect">
            <a:avLst/>
          </a:prstGeom>
          <a:noFill/>
          <a:ln/>
        </p:spPr>
        <p:txBody>
          <a:bodyPr wrap="square" lIns="0" tIns="0" rIns="0" bIns="0" rtlCol="0" anchor="ctr"/>
          <a:lstStyle/>
          <a:p>
            <a:pPr indent="0" marL="0">
              <a:buNone/>
            </a:pPr>
            <a:r>
              <a:rPr lang="en-US" sz="1200" dirty="0">
                <a:solidFill>
                  <a:schemeClr val="tx2"/>
                </a:solidFill>
              </a:rPr>
              <a:t>the, is, abeg, years</a:t>
            </a:r>
            <a:endParaRPr lang="en-US" sz="1200" dirty="0"/>
          </a:p>
        </p:txBody>
      </p:sp>
      <p:sp>
        <p:nvSpPr>
          <p:cNvPr id="20" name="Plant circle"/>
          <p:cNvSpPr/>
          <p:nvPr/>
        </p:nvSpPr>
        <p:spPr>
          <a:xfrm>
            <a:off x="548640" y="3273552"/>
            <a:ext cx="347472" cy="347472"/>
          </a:xfrm>
          <a:prstGeom prst="ellipse">
            <a:avLst/>
          </a:prstGeom>
          <a:solidFill>
            <a:schemeClr val="accent1"/>
          </a:solidFill>
          <a:ln/>
        </p:spPr>
      </p:sp>
      <p:pic>
        <p:nvPicPr>
          <p:cNvPr id="21" name="Plant icon" descr="Plant icon">    </p:cNvPr>
          <p:cNvPicPr>
            <a:picLocks noChangeAspect="1"/>
          </p:cNvPicPr>
          <p:nvPr/>
        </p:nvPicPr>
        <p:blipFill>
          <a:blip r:embed="rId5"/>
          <a:stretch>
            <a:fillRect/>
          </a:stretch>
        </p:blipFill>
        <p:spPr>
          <a:xfrm>
            <a:off x="628559" y="3353471"/>
            <a:ext cx="187635" cy="187635"/>
          </a:xfrm>
          <a:prstGeom prst="rect">
            <a:avLst/>
          </a:prstGeom>
        </p:spPr>
      </p:pic>
      <p:sp>
        <p:nvSpPr>
          <p:cNvPr id="22" name="Text 15"/>
          <p:cNvSpPr txBox="1"/>
          <p:nvPr/>
        </p:nvSpPr>
        <p:spPr>
          <a:xfrm>
            <a:off x="1042416" y="3246120"/>
            <a:ext cx="1874520" cy="402336"/>
          </a:xfrm>
          <a:prstGeom prst="rect">
            <a:avLst/>
          </a:prstGeom>
          <a:noFill/>
          <a:ln/>
        </p:spPr>
        <p:txBody>
          <a:bodyPr wrap="square" lIns="0" tIns="0" rIns="0" bIns="0" rtlCol="0" anchor="ctr"/>
          <a:lstStyle/>
          <a:p>
            <a:pPr indent="0" marL="0">
              <a:buNone/>
            </a:pPr>
            <a:r>
              <a:rPr lang="en-US" sz="1400" b="1" dirty="0">
                <a:solidFill>
                  <a:schemeClr val="tx1"/>
                </a:solidFill>
              </a:rPr>
              <a:t>5. Stem</a:t>
            </a:r>
            <a:endParaRPr lang="en-US" sz="1400" dirty="0"/>
          </a:p>
        </p:txBody>
      </p:sp>
      <p:sp>
        <p:nvSpPr>
          <p:cNvPr id="23" name="Text 16"/>
          <p:cNvSpPr txBox="1"/>
          <p:nvPr/>
        </p:nvSpPr>
        <p:spPr>
          <a:xfrm>
            <a:off x="2944368" y="3246120"/>
            <a:ext cx="2240280" cy="402336"/>
          </a:xfrm>
          <a:prstGeom prst="rect">
            <a:avLst/>
          </a:prstGeom>
          <a:noFill/>
          <a:ln/>
        </p:spPr>
        <p:txBody>
          <a:bodyPr wrap="square" lIns="0" tIns="0" rIns="0" bIns="0" rtlCol="0" anchor="ctr"/>
          <a:lstStyle/>
          <a:p>
            <a:pPr indent="0" marL="0">
              <a:buNone/>
            </a:pPr>
            <a:r>
              <a:rPr lang="en-US" sz="1200" dirty="0">
                <a:solidFill>
                  <a:schemeClr val="tx2"/>
                </a:solidFill>
              </a:rPr>
              <a:t>Porter stemmer</a:t>
            </a:r>
            <a:endParaRPr lang="en-US" sz="1200" dirty="0"/>
          </a:p>
        </p:txBody>
      </p:sp>
      <p:sp>
        <p:nvSpPr>
          <p:cNvPr id="24" name="Calculator circle"/>
          <p:cNvSpPr/>
          <p:nvPr/>
        </p:nvSpPr>
        <p:spPr>
          <a:xfrm>
            <a:off x="548640" y="3730752"/>
            <a:ext cx="347472" cy="347472"/>
          </a:xfrm>
          <a:prstGeom prst="ellipse">
            <a:avLst/>
          </a:prstGeom>
          <a:solidFill>
            <a:schemeClr val="accent1"/>
          </a:solidFill>
          <a:ln/>
        </p:spPr>
      </p:sp>
      <p:pic>
        <p:nvPicPr>
          <p:cNvPr id="25" name="Calculator icon" descr="Calculator icon">    </p:cNvPr>
          <p:cNvPicPr>
            <a:picLocks noChangeAspect="1"/>
          </p:cNvPicPr>
          <p:nvPr/>
        </p:nvPicPr>
        <p:blipFill>
          <a:blip r:embed="rId6"/>
          <a:stretch>
            <a:fillRect/>
          </a:stretch>
        </p:blipFill>
        <p:spPr>
          <a:xfrm>
            <a:off x="628559" y="3810671"/>
            <a:ext cx="187635" cy="187635"/>
          </a:xfrm>
          <a:prstGeom prst="rect">
            <a:avLst/>
          </a:prstGeom>
        </p:spPr>
      </p:pic>
      <p:sp>
        <p:nvSpPr>
          <p:cNvPr id="26" name="Text 18"/>
          <p:cNvSpPr txBox="1"/>
          <p:nvPr/>
        </p:nvSpPr>
        <p:spPr>
          <a:xfrm>
            <a:off x="1042416" y="3703320"/>
            <a:ext cx="1874520" cy="402336"/>
          </a:xfrm>
          <a:prstGeom prst="rect">
            <a:avLst/>
          </a:prstGeom>
          <a:noFill/>
          <a:ln/>
        </p:spPr>
        <p:txBody>
          <a:bodyPr wrap="square" lIns="0" tIns="0" rIns="0" bIns="0" rtlCol="0" anchor="ctr"/>
          <a:lstStyle/>
          <a:p>
            <a:pPr indent="0" marL="0">
              <a:buNone/>
            </a:pPr>
            <a:r>
              <a:rPr lang="en-US" sz="1400" b="1" dirty="0">
                <a:solidFill>
                  <a:schemeClr val="tx1"/>
                </a:solidFill>
              </a:rPr>
              <a:t>6. Score</a:t>
            </a:r>
            <a:endParaRPr lang="en-US" sz="1400" dirty="0"/>
          </a:p>
        </p:txBody>
      </p:sp>
      <p:sp>
        <p:nvSpPr>
          <p:cNvPr id="27" name="Text 19"/>
          <p:cNvSpPr txBox="1"/>
          <p:nvPr/>
        </p:nvSpPr>
        <p:spPr>
          <a:xfrm>
            <a:off x="2944368" y="3703320"/>
            <a:ext cx="2240280" cy="402336"/>
          </a:xfrm>
          <a:prstGeom prst="rect">
            <a:avLst/>
          </a:prstGeom>
          <a:noFill/>
          <a:ln/>
        </p:spPr>
        <p:txBody>
          <a:bodyPr wrap="square" lIns="0" tIns="0" rIns="0" bIns="0" rtlCol="0" anchor="ctr"/>
          <a:lstStyle/>
          <a:p>
            <a:pPr indent="0" marL="0">
              <a:buNone/>
            </a:pPr>
            <a:r>
              <a:rPr lang="en-US" sz="1200" dirty="0">
                <a:solidFill>
                  <a:schemeClr val="tx2"/>
                </a:solidFill>
              </a:rPr>
              <a:t>0.8 × cosine + 0.2 × trigram</a:t>
            </a:r>
            <a:endParaRPr lang="en-US" sz="1200" dirty="0"/>
          </a:p>
        </p:txBody>
      </p:sp>
      <p:sp>
        <p:nvSpPr>
          <p:cNvPr id="28" name="Signpost circle"/>
          <p:cNvSpPr/>
          <p:nvPr/>
        </p:nvSpPr>
        <p:spPr>
          <a:xfrm>
            <a:off x="548640" y="4187952"/>
            <a:ext cx="347472" cy="347472"/>
          </a:xfrm>
          <a:prstGeom prst="ellipse">
            <a:avLst/>
          </a:prstGeom>
          <a:solidFill>
            <a:schemeClr val="accent1"/>
          </a:solidFill>
          <a:ln/>
        </p:spPr>
      </p:sp>
      <p:pic>
        <p:nvPicPr>
          <p:cNvPr id="29" name="Signpost icon" descr="Signpost icon">    </p:cNvPr>
          <p:cNvPicPr>
            <a:picLocks noChangeAspect="1"/>
          </p:cNvPicPr>
          <p:nvPr/>
        </p:nvPicPr>
        <p:blipFill>
          <a:blip r:embed="rId7"/>
          <a:stretch>
            <a:fillRect/>
          </a:stretch>
        </p:blipFill>
        <p:spPr>
          <a:xfrm>
            <a:off x="628559" y="4267871"/>
            <a:ext cx="187635" cy="187635"/>
          </a:xfrm>
          <a:prstGeom prst="rect">
            <a:avLst/>
          </a:prstGeom>
        </p:spPr>
      </p:pic>
      <p:sp>
        <p:nvSpPr>
          <p:cNvPr id="30" name="Text 21"/>
          <p:cNvSpPr txBox="1"/>
          <p:nvPr/>
        </p:nvSpPr>
        <p:spPr>
          <a:xfrm>
            <a:off x="1042416" y="4160520"/>
            <a:ext cx="1874520" cy="402336"/>
          </a:xfrm>
          <a:prstGeom prst="rect">
            <a:avLst/>
          </a:prstGeom>
          <a:noFill/>
          <a:ln/>
        </p:spPr>
        <p:txBody>
          <a:bodyPr wrap="square" lIns="0" tIns="0" rIns="0" bIns="0" rtlCol="0" anchor="ctr"/>
          <a:lstStyle/>
          <a:p>
            <a:pPr indent="0" marL="0">
              <a:buNone/>
            </a:pPr>
            <a:r>
              <a:rPr lang="en-US" sz="1400" b="1" dirty="0">
                <a:solidFill>
                  <a:schemeClr val="tx1"/>
                </a:solidFill>
              </a:rPr>
              <a:t>7. Decide</a:t>
            </a:r>
            <a:endParaRPr lang="en-US" sz="1400" dirty="0"/>
          </a:p>
        </p:txBody>
      </p:sp>
      <p:sp>
        <p:nvSpPr>
          <p:cNvPr id="31" name="Text 22"/>
          <p:cNvSpPr txBox="1"/>
          <p:nvPr/>
        </p:nvSpPr>
        <p:spPr>
          <a:xfrm>
            <a:off x="2944368" y="4160520"/>
            <a:ext cx="2240280" cy="402336"/>
          </a:xfrm>
          <a:prstGeom prst="rect">
            <a:avLst/>
          </a:prstGeom>
          <a:noFill/>
          <a:ln/>
        </p:spPr>
        <p:txBody>
          <a:bodyPr wrap="square" lIns="0" tIns="0" rIns="0" bIns="0" rtlCol="0" anchor="ctr"/>
          <a:lstStyle/>
          <a:p>
            <a:pPr indent="0" marL="0">
              <a:buNone/>
            </a:pPr>
            <a:r>
              <a:rPr lang="en-US" sz="1200" dirty="0">
                <a:solidFill>
                  <a:schemeClr val="tx2"/>
                </a:solidFill>
              </a:rPr>
              <a:t>answer, suggest or refer</a:t>
            </a:r>
            <a:endParaRPr lang="en-US" sz="1200" dirty="0"/>
          </a:p>
        </p:txBody>
      </p:sp>
      <p:sp>
        <p:nvSpPr>
          <p:cNvPr id="32" name="Example trace card"/>
          <p:cNvSpPr/>
          <p:nvPr/>
        </p:nvSpPr>
        <p:spPr>
          <a:xfrm>
            <a:off x="5349240" y="1417320"/>
            <a:ext cx="3246120" cy="3200400"/>
          </a:xfrm>
          <a:prstGeom prst="roundRect">
            <a:avLst>
              <a:gd name="adj" fmla="val 4000"/>
            </a:avLst>
          </a:prstGeom>
          <a:solidFill>
            <a:schemeClr val="bg1"/>
          </a:solidFill>
          <a:ln w="9525">
            <a:solidFill>
              <a:schemeClr val="accent5"/>
            </a:solidFill>
            <a:prstDash val="solid"/>
          </a:ln>
        </p:spPr>
      </p:sp>
      <p:sp>
        <p:nvSpPr>
          <p:cNvPr id="33" name="Text 24"/>
          <p:cNvSpPr txBox="1"/>
          <p:nvPr/>
        </p:nvSpPr>
        <p:spPr>
          <a:xfrm>
            <a:off x="5559552" y="1554480"/>
            <a:ext cx="2834640" cy="228600"/>
          </a:xfrm>
          <a:prstGeom prst="rect">
            <a:avLst/>
          </a:prstGeom>
          <a:noFill/>
          <a:ln/>
        </p:spPr>
        <p:txBody>
          <a:bodyPr wrap="square" lIns="0" tIns="0" rIns="0" bIns="0" rtlCol="0" anchor="t"/>
          <a:lstStyle/>
          <a:p>
            <a:pPr indent="0" marL="0">
              <a:buNone/>
            </a:pPr>
            <a:r>
              <a:rPr lang="en-US" sz="1000" b="1" spc="100" kern="0" dirty="0">
                <a:solidFill>
                  <a:schemeClr val="accent3"/>
                </a:solidFill>
              </a:rPr>
              <a:t>EXAMPLE FROM THE RUNNING SYSTEM</a:t>
            </a:r>
            <a:endParaRPr lang="en-US" sz="1000" dirty="0"/>
          </a:p>
        </p:txBody>
      </p:sp>
      <p:sp>
        <p:nvSpPr>
          <p:cNvPr id="34" name="Student message"/>
          <p:cNvSpPr/>
          <p:nvPr/>
        </p:nvSpPr>
        <p:spPr>
          <a:xfrm>
            <a:off x="5559552" y="1810512"/>
            <a:ext cx="2057400" cy="365760"/>
          </a:xfrm>
          <a:prstGeom prst="roundRect">
            <a:avLst>
              <a:gd name="adj" fmla="val 30000"/>
            </a:avLst>
          </a:prstGeom>
          <a:solidFill>
            <a:schemeClr val="accent4"/>
          </a:solidFill>
          <a:ln/>
        </p:spPr>
      </p:sp>
      <p:sp>
        <p:nvSpPr>
          <p:cNvPr id="35" name="Text 26"/>
          <p:cNvSpPr txBox="1"/>
          <p:nvPr/>
        </p:nvSpPr>
        <p:spPr>
          <a:xfrm>
            <a:off x="5650992" y="1810512"/>
            <a:ext cx="1920240" cy="365760"/>
          </a:xfrm>
          <a:prstGeom prst="rect">
            <a:avLst/>
          </a:prstGeom>
          <a:noFill/>
          <a:ln/>
        </p:spPr>
        <p:txBody>
          <a:bodyPr wrap="square" lIns="0" tIns="0" rIns="0" bIns="0" rtlCol="0" anchor="ctr"/>
          <a:lstStyle/>
          <a:p>
            <a:pPr indent="0" marL="0">
              <a:buNone/>
            </a:pPr>
            <a:r>
              <a:rPr lang="en-US" sz="1300" dirty="0">
                <a:solidFill>
                  <a:schemeClr val="tx1"/>
                </a:solidFill>
              </a:rPr>
              <a:t>wetin be the PUTME fee??</a:t>
            </a:r>
            <a:endParaRPr lang="en-US" sz="1300" dirty="0"/>
          </a:p>
        </p:txBody>
      </p:sp>
      <p:sp>
        <p:nvSpPr>
          <p:cNvPr id="36" name="Text 27"/>
          <p:cNvSpPr txBox="1"/>
          <p:nvPr/>
        </p:nvSpPr>
        <p:spPr>
          <a:xfrm>
            <a:off x="5559552" y="2286000"/>
            <a:ext cx="566928" cy="512064"/>
          </a:xfrm>
          <a:prstGeom prst="rect">
            <a:avLst/>
          </a:prstGeom>
          <a:noFill/>
          <a:ln/>
        </p:spPr>
        <p:txBody>
          <a:bodyPr wrap="square" lIns="0" tIns="0" rIns="0" bIns="0" rtlCol="0" anchor="t"/>
          <a:lstStyle/>
          <a:p>
            <a:pPr indent="0" marL="0">
              <a:buNone/>
            </a:pPr>
            <a:r>
              <a:rPr lang="en-US" sz="1100" b="1" dirty="0">
                <a:solidFill>
                  <a:schemeClr val="tx2"/>
                </a:solidFill>
              </a:rPr>
              <a:t>rules</a:t>
            </a:r>
            <a:endParaRPr lang="en-US" sz="1100" dirty="0"/>
          </a:p>
        </p:txBody>
      </p:sp>
      <p:sp>
        <p:nvSpPr>
          <p:cNvPr id="37" name="Text 28"/>
          <p:cNvSpPr txBox="1"/>
          <p:nvPr/>
        </p:nvSpPr>
        <p:spPr>
          <a:xfrm>
            <a:off x="6144768" y="2286000"/>
            <a:ext cx="2286000" cy="512064"/>
          </a:xfrm>
          <a:prstGeom prst="rect">
            <a:avLst/>
          </a:prstGeom>
          <a:noFill/>
          <a:ln/>
        </p:spPr>
        <p:txBody>
          <a:bodyPr wrap="square" lIns="0" tIns="0" rIns="0" bIns="0" rtlCol="0" anchor="t"/>
          <a:lstStyle/>
          <a:p>
            <a:pPr indent="0" marL="0">
              <a:buNone/>
            </a:pPr>
            <a:r>
              <a:rPr lang="en-US" sz="1100" dirty="0">
                <a:solidFill>
                  <a:schemeClr val="tx1"/>
                </a:solidFill>
              </a:rPr>
              <a:t>wetin be → what</a:t>
            </a:r>
            <a:endParaRPr lang="en-US" sz="1100" dirty="0"/>
          </a:p>
          <a:p>
            <a:pPr indent="0" marL="0">
              <a:buNone/>
            </a:pPr>
            <a:r>
              <a:rPr lang="en-US" sz="1100" dirty="0">
                <a:solidFill>
                  <a:schemeClr val="tx1"/>
                </a:solidFill>
              </a:rPr>
              <a:t>putme → postutme</a:t>
            </a:r>
            <a:endParaRPr lang="en-US" sz="1100" dirty="0"/>
          </a:p>
          <a:p>
            <a:pPr indent="0" marL="0">
              <a:buNone/>
            </a:pPr>
            <a:r>
              <a:rPr lang="en-US" sz="1100" dirty="0">
                <a:solidFill>
                  <a:schemeClr val="tx1"/>
                </a:solidFill>
              </a:rPr>
              <a:t>fee → cost</a:t>
            </a:r>
            <a:endParaRPr lang="en-US" sz="1100" dirty="0"/>
          </a:p>
        </p:txBody>
      </p:sp>
      <p:sp>
        <p:nvSpPr>
          <p:cNvPr id="38" name="Text 29"/>
          <p:cNvSpPr txBox="1"/>
          <p:nvPr/>
        </p:nvSpPr>
        <p:spPr>
          <a:xfrm>
            <a:off x="5559552" y="2843784"/>
            <a:ext cx="566928" cy="182880"/>
          </a:xfrm>
          <a:prstGeom prst="rect">
            <a:avLst/>
          </a:prstGeom>
          <a:noFill/>
          <a:ln/>
        </p:spPr>
        <p:txBody>
          <a:bodyPr wrap="square" lIns="0" tIns="0" rIns="0" bIns="0" rtlCol="0" anchor="t"/>
          <a:lstStyle/>
          <a:p>
            <a:pPr indent="0" marL="0">
              <a:buNone/>
            </a:pPr>
            <a:r>
              <a:rPr lang="en-US" sz="1100" b="1" dirty="0">
                <a:solidFill>
                  <a:schemeClr val="tx2"/>
                </a:solidFill>
              </a:rPr>
              <a:t>roots</a:t>
            </a:r>
            <a:endParaRPr lang="en-US" sz="1100" dirty="0"/>
          </a:p>
        </p:txBody>
      </p:sp>
      <p:sp>
        <p:nvSpPr>
          <p:cNvPr id="39" name="Text 30"/>
          <p:cNvSpPr txBox="1"/>
          <p:nvPr/>
        </p:nvSpPr>
        <p:spPr>
          <a:xfrm>
            <a:off x="6144768" y="2843784"/>
            <a:ext cx="2286000" cy="182880"/>
          </a:xfrm>
          <a:prstGeom prst="rect">
            <a:avLst/>
          </a:prstGeom>
          <a:noFill/>
          <a:ln/>
        </p:spPr>
        <p:txBody>
          <a:bodyPr wrap="square" lIns="0" tIns="0" rIns="0" bIns="0" rtlCol="0" anchor="t"/>
          <a:lstStyle/>
          <a:p>
            <a:pPr indent="0" marL="0">
              <a:buNone/>
            </a:pPr>
            <a:r>
              <a:rPr lang="en-US" sz="1100" dirty="0">
                <a:solidFill>
                  <a:schemeClr val="tx1"/>
                </a:solidFill>
              </a:rPr>
              <a:t>postutm, cost</a:t>
            </a:r>
            <a:endParaRPr lang="en-US" sz="1100" dirty="0"/>
          </a:p>
        </p:txBody>
      </p:sp>
      <p:sp>
        <p:nvSpPr>
          <p:cNvPr id="40" name="Text 31"/>
          <p:cNvSpPr txBox="1"/>
          <p:nvPr/>
        </p:nvSpPr>
        <p:spPr>
          <a:xfrm>
            <a:off x="5559552" y="3072384"/>
            <a:ext cx="566928" cy="329184"/>
          </a:xfrm>
          <a:prstGeom prst="rect">
            <a:avLst/>
          </a:prstGeom>
          <a:noFill/>
          <a:ln/>
        </p:spPr>
        <p:txBody>
          <a:bodyPr wrap="square" lIns="0" tIns="0" rIns="0" bIns="0" rtlCol="0" anchor="t"/>
          <a:lstStyle/>
          <a:p>
            <a:pPr indent="0" marL="0">
              <a:buNone/>
            </a:pPr>
            <a:r>
              <a:rPr lang="en-US" sz="1100" b="1" dirty="0">
                <a:solidFill>
                  <a:schemeClr val="tx2"/>
                </a:solidFill>
              </a:rPr>
              <a:t>match</a:t>
            </a:r>
            <a:endParaRPr lang="en-US" sz="1100" dirty="0"/>
          </a:p>
        </p:txBody>
      </p:sp>
      <p:sp>
        <p:nvSpPr>
          <p:cNvPr id="41" name="Text 32"/>
          <p:cNvSpPr txBox="1"/>
          <p:nvPr/>
        </p:nvSpPr>
        <p:spPr>
          <a:xfrm>
            <a:off x="6144768" y="3072384"/>
            <a:ext cx="2286000" cy="329184"/>
          </a:xfrm>
          <a:prstGeom prst="rect">
            <a:avLst/>
          </a:prstGeom>
          <a:noFill/>
          <a:ln/>
        </p:spPr>
        <p:txBody>
          <a:bodyPr wrap="square" lIns="0" tIns="0" rIns="0" bIns="0" rtlCol="0" anchor="t"/>
          <a:lstStyle/>
          <a:p>
            <a:pPr indent="0" marL="0">
              <a:buNone/>
            </a:pPr>
            <a:r>
              <a:rPr lang="en-US" sz="1100" dirty="0">
                <a:solidFill>
                  <a:schemeClr val="tx1"/>
                </a:solidFill>
              </a:rPr>
              <a:t>How much is the EBSU Post-UTME form?</a:t>
            </a:r>
            <a:endParaRPr lang="en-US" sz="1100" dirty="0"/>
          </a:p>
        </p:txBody>
      </p:sp>
      <p:sp>
        <p:nvSpPr>
          <p:cNvPr id="42" name="Text 33"/>
          <p:cNvSpPr txBox="1"/>
          <p:nvPr/>
        </p:nvSpPr>
        <p:spPr>
          <a:xfrm>
            <a:off x="5559552" y="3447288"/>
            <a:ext cx="2834640" cy="219456"/>
          </a:xfrm>
          <a:prstGeom prst="rect">
            <a:avLst/>
          </a:prstGeom>
          <a:noFill/>
          <a:ln/>
        </p:spPr>
        <p:txBody>
          <a:bodyPr wrap="square" lIns="0" tIns="0" rIns="0" bIns="0" rtlCol="0" anchor="t"/>
          <a:lstStyle/>
          <a:p>
            <a:pPr indent="0" marL="0">
              <a:buNone/>
            </a:pPr>
            <a:r>
              <a:rPr lang="en-US" sz="1100" b="1" dirty="0">
                <a:solidFill>
                  <a:schemeClr val="accent1"/>
                </a:solidFill>
              </a:rPr>
              <a:t>score 1.00 ≥ 0.50 → answer</a:t>
            </a:r>
            <a:endParaRPr lang="en-US" sz="1100" dirty="0"/>
          </a:p>
        </p:txBody>
      </p:sp>
      <p:sp>
        <p:nvSpPr>
          <p:cNvPr id="43" name="Bot answer"/>
          <p:cNvSpPr/>
          <p:nvPr/>
        </p:nvSpPr>
        <p:spPr>
          <a:xfrm>
            <a:off x="5559552" y="3730752"/>
            <a:ext cx="2834640" cy="749808"/>
          </a:xfrm>
          <a:prstGeom prst="roundRect">
            <a:avLst>
              <a:gd name="adj" fmla="val 14634"/>
            </a:avLst>
          </a:prstGeom>
          <a:solidFill>
            <a:schemeClr val="bg2"/>
          </a:solidFill>
          <a:ln/>
        </p:spPr>
      </p:sp>
      <p:sp>
        <p:nvSpPr>
          <p:cNvPr id="44" name="Text 35"/>
          <p:cNvSpPr txBox="1"/>
          <p:nvPr/>
        </p:nvSpPr>
        <p:spPr>
          <a:xfrm>
            <a:off x="5650992" y="3785616"/>
            <a:ext cx="2697480" cy="658368"/>
          </a:xfrm>
          <a:prstGeom prst="rect">
            <a:avLst/>
          </a:prstGeom>
          <a:noFill/>
          <a:ln/>
        </p:spPr>
        <p:txBody>
          <a:bodyPr wrap="square" lIns="0" tIns="0" rIns="0" bIns="0" rtlCol="0" anchor="t"/>
          <a:lstStyle/>
          <a:p>
            <a:pPr indent="0" marL="0">
              <a:buNone/>
            </a:pPr>
            <a:r>
              <a:rPr lang="en-US" sz="1200" dirty="0">
                <a:solidFill>
                  <a:schemeClr val="tx1"/>
                </a:solidFill>
              </a:rPr>
              <a:t>The Post-UTME fee is N2,000.00 and it is non-refundable.</a:t>
            </a:r>
            <a:endParaRPr lang="en-US" sz="1200" dirty="0"/>
          </a:p>
          <a:p>
            <a:pPr indent="0" marL="0">
              <a:buNone/>
            </a:pPr>
            <a:r>
              <a:rPr lang="en-US" sz="1000" dirty="0">
                <a:solidFill>
                  <a:srgbClr val="A63D17"/>
                </a:solidFill>
              </a:rPr>
              <a:t>Source: ebsu.edu.ng, 2026/2027 Post-UTME notice</a:t>
            </a:r>
            <a:endParaRPr lang="en-US" sz="1200" dirty="0"/>
          </a:p>
        </p:txBody>
      </p:sp>
      <p:sp>
        <p:nvSpPr>
          <p:cNvPr id="25" name="Slide Number Placeholder 0"/>
          <p:cNvSpPr>
            <a:spLocks noGrp="1"/>
          </p:cNvSpPr>
          <p:nvPr>
            <p:ph type="sldNum" sz="quarter" idx="4294967295"/>
          </p:nvPr>
        </p:nvSpPr>
        <p:spPr>
          <a:xfrm>
            <a:off x="8138160" y="4754880"/>
            <a:ext cx="457200" cy="219456"/>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046720" cy="274320"/>
          </a:xfrm>
          <a:prstGeom prst="rect">
            <a:avLst/>
          </a:prstGeom>
          <a:noFill/>
          <a:ln/>
        </p:spPr>
        <p:txBody>
          <a:bodyPr wrap="square" lIns="0" tIns="0" rIns="0" bIns="0" rtlCol="0" anchor="t"/>
          <a:lstStyle/>
          <a:p>
            <a:pPr algn="l" indent="0" marL="0">
              <a:buNone/>
            </a:pPr>
            <a:r>
              <a:rPr lang="en-US" sz="1200" b="1" spc="150" kern="0" dirty="0">
                <a:solidFill>
                  <a:schemeClr val="accent3"/>
                </a:solidFill>
              </a:rPr>
              <a:t>THE SCORING</a:t>
            </a:r>
            <a:endParaRPr lang="en-US" sz="1200" dirty="0"/>
          </a:p>
        </p:txBody>
      </p:sp>
      <p:sp>
        <p:nvSpPr>
          <p:cNvPr id="3" name="Text 0"/>
          <p:cNvSpPr/>
          <p:nvPr>
            <p:ph idx="101" type="title" hasCustomPrompt="1"/>
          </p:nvPr>
        </p:nvSpPr>
        <p:spPr>
          <a:xfrm>
            <a:off x="548640" y="585216"/>
            <a:ext cx="8046720" cy="658368"/>
          </a:xfrm>
          <a:prstGeom prst="rect">
            <a:avLst/>
          </a:prstGeom>
          <a:noFill/>
          <a:ln/>
        </p:spPr>
        <p:txBody>
          <a:bodyPr wrap="square" lIns="0" tIns="0" rIns="0" bIns="0" rtlCol="0" anchor="t"/>
          <a:lstStyle/>
          <a:p>
            <a:pPr algn="l" indent="0" marL="0">
              <a:buNone/>
            </a:pPr>
            <a:r>
              <a:rPr lang="en-US" sz="3200" b="1" dirty="0">
                <a:solidFill>
                  <a:schemeClr val="tx1"/>
                </a:solidFill>
              </a:rPr>
              <a:t>How a match is scored</a:t>
            </a:r>
            <a:endParaRPr lang="en-US" sz="3200" dirty="0"/>
          </a:p>
        </p:txBody>
      </p:sp>
      <p:sp>
        <p:nvSpPr>
          <p:cNvPr id="4" name="Formula card"/>
          <p:cNvSpPr/>
          <p:nvPr/>
        </p:nvSpPr>
        <p:spPr>
          <a:xfrm>
            <a:off x="548640" y="1417320"/>
            <a:ext cx="3931920" cy="3200400"/>
          </a:xfrm>
          <a:prstGeom prst="roundRect">
            <a:avLst>
              <a:gd name="adj" fmla="val 4000"/>
            </a:avLst>
          </a:prstGeom>
          <a:solidFill>
            <a:schemeClr val="bg1"/>
          </a:solidFill>
          <a:ln w="9525">
            <a:solidFill>
              <a:schemeClr val="accent5"/>
            </a:solidFill>
            <a:prstDash val="solid"/>
          </a:ln>
        </p:spPr>
      </p:sp>
      <p:sp>
        <p:nvSpPr>
          <p:cNvPr id="5" name="Text 3"/>
          <p:cNvSpPr txBox="1"/>
          <p:nvPr/>
        </p:nvSpPr>
        <p:spPr>
          <a:xfrm>
            <a:off x="777240" y="1600200"/>
            <a:ext cx="3520440" cy="256032"/>
          </a:xfrm>
          <a:prstGeom prst="rect">
            <a:avLst/>
          </a:prstGeom>
          <a:noFill/>
          <a:ln/>
        </p:spPr>
        <p:txBody>
          <a:bodyPr wrap="square" lIns="0" tIns="0" rIns="0" bIns="0" rtlCol="0" anchor="t"/>
          <a:lstStyle/>
          <a:p>
            <a:pPr indent="0" marL="0">
              <a:buNone/>
            </a:pPr>
            <a:r>
              <a:rPr lang="en-US" sz="1400" b="1" dirty="0">
                <a:solidFill>
                  <a:schemeClr val="accent3"/>
                </a:solidFill>
              </a:rPr>
              <a:t>TF-IDF weight</a:t>
            </a:r>
            <a:endParaRPr lang="en-US" sz="1400" dirty="0"/>
          </a:p>
        </p:txBody>
      </p:sp>
      <p:sp>
        <p:nvSpPr>
          <p:cNvPr id="6" name="Text 4"/>
          <p:cNvSpPr txBox="1"/>
          <p:nvPr/>
        </p:nvSpPr>
        <p:spPr>
          <a:xfrm>
            <a:off x="777240" y="1874520"/>
            <a:ext cx="3520440" cy="438912"/>
          </a:xfrm>
          <a:prstGeom prst="rect">
            <a:avLst/>
          </a:prstGeom>
          <a:noFill/>
          <a:ln/>
        </p:spPr>
        <p:txBody>
          <a:bodyPr wrap="square" lIns="0" tIns="0" rIns="0" bIns="0" rtlCol="0" anchor="t"/>
          <a:lstStyle/>
          <a:p>
            <a:pPr indent="0" marL="0">
              <a:buNone/>
            </a:pPr>
            <a:r>
              <a:rPr lang="en-US" sz="1400" dirty="0">
                <a:solidFill>
                  <a:schemeClr val="tx1"/>
                </a:solidFill>
              </a:rPr>
              <a:t>w = tf × idf,   idf = ln((1 + N) / (1 + df)) + 1</a:t>
            </a:r>
            <a:endParaRPr lang="en-US" sz="1400" dirty="0"/>
          </a:p>
        </p:txBody>
      </p:sp>
      <p:sp>
        <p:nvSpPr>
          <p:cNvPr id="7" name="Text 5"/>
          <p:cNvSpPr txBox="1"/>
          <p:nvPr/>
        </p:nvSpPr>
        <p:spPr>
          <a:xfrm>
            <a:off x="777240" y="2331720"/>
            <a:ext cx="3520440" cy="256032"/>
          </a:xfrm>
          <a:prstGeom prst="rect">
            <a:avLst/>
          </a:prstGeom>
          <a:noFill/>
          <a:ln/>
        </p:spPr>
        <p:txBody>
          <a:bodyPr wrap="square" lIns="0" tIns="0" rIns="0" bIns="0" rtlCol="0" anchor="t"/>
          <a:lstStyle/>
          <a:p>
            <a:pPr indent="0" marL="0">
              <a:buNone/>
            </a:pPr>
            <a:r>
              <a:rPr lang="en-US" sz="1400" b="1" dirty="0">
                <a:solidFill>
                  <a:schemeClr val="accent3"/>
                </a:solidFill>
              </a:rPr>
              <a:t>Cosine similarity</a:t>
            </a:r>
            <a:endParaRPr lang="en-US" sz="1400" dirty="0"/>
          </a:p>
        </p:txBody>
      </p:sp>
      <p:sp>
        <p:nvSpPr>
          <p:cNvPr id="8" name="Text 6"/>
          <p:cNvSpPr txBox="1"/>
          <p:nvPr/>
        </p:nvSpPr>
        <p:spPr>
          <a:xfrm>
            <a:off x="777240" y="2606040"/>
            <a:ext cx="3520440" cy="438912"/>
          </a:xfrm>
          <a:prstGeom prst="rect">
            <a:avLst/>
          </a:prstGeom>
          <a:noFill/>
          <a:ln/>
        </p:spPr>
        <p:txBody>
          <a:bodyPr wrap="square" lIns="0" tIns="0" rIns="0" bIns="0" rtlCol="0" anchor="t"/>
          <a:lstStyle/>
          <a:p>
            <a:pPr indent="0" marL="0">
              <a:buNone/>
            </a:pPr>
            <a:r>
              <a:rPr lang="en-US" sz="1400" dirty="0">
                <a:solidFill>
                  <a:schemeClr val="tx1"/>
                </a:solidFill>
              </a:rPr>
              <a:t>cos(q, d) = q · d / (|q| × |d|)</a:t>
            </a:r>
            <a:endParaRPr lang="en-US" sz="1400" dirty="0"/>
          </a:p>
        </p:txBody>
      </p:sp>
      <p:sp>
        <p:nvSpPr>
          <p:cNvPr id="9" name="Text 7"/>
          <p:cNvSpPr txBox="1"/>
          <p:nvPr/>
        </p:nvSpPr>
        <p:spPr>
          <a:xfrm>
            <a:off x="777240" y="3063240"/>
            <a:ext cx="3520440" cy="256032"/>
          </a:xfrm>
          <a:prstGeom prst="rect">
            <a:avLst/>
          </a:prstGeom>
          <a:noFill/>
          <a:ln/>
        </p:spPr>
        <p:txBody>
          <a:bodyPr wrap="square" lIns="0" tIns="0" rIns="0" bIns="0" rtlCol="0" anchor="t"/>
          <a:lstStyle/>
          <a:p>
            <a:pPr indent="0" marL="0">
              <a:buNone/>
            </a:pPr>
            <a:r>
              <a:rPr lang="en-US" sz="1400" b="1" dirty="0">
                <a:solidFill>
                  <a:schemeClr val="accent3"/>
                </a:solidFill>
              </a:rPr>
              <a:t>Final score</a:t>
            </a:r>
            <a:endParaRPr lang="en-US" sz="1400" dirty="0"/>
          </a:p>
        </p:txBody>
      </p:sp>
      <p:sp>
        <p:nvSpPr>
          <p:cNvPr id="10" name="Text 8"/>
          <p:cNvSpPr txBox="1"/>
          <p:nvPr/>
        </p:nvSpPr>
        <p:spPr>
          <a:xfrm>
            <a:off x="777240" y="3337560"/>
            <a:ext cx="3520440" cy="438912"/>
          </a:xfrm>
          <a:prstGeom prst="rect">
            <a:avLst/>
          </a:prstGeom>
          <a:noFill/>
          <a:ln/>
        </p:spPr>
        <p:txBody>
          <a:bodyPr wrap="square" lIns="0" tIns="0" rIns="0" bIns="0" rtlCol="0" anchor="t"/>
          <a:lstStyle/>
          <a:p>
            <a:pPr indent="0" marL="0">
              <a:buNone/>
            </a:pPr>
            <a:r>
              <a:rPr lang="en-US" sz="1400" dirty="0">
                <a:solidFill>
                  <a:schemeClr val="tx1"/>
                </a:solidFill>
              </a:rPr>
              <a:t>score = 0.8 × cosine + 0.2 × trigram</a:t>
            </a:r>
            <a:endParaRPr lang="en-US" sz="1400" dirty="0"/>
          </a:p>
        </p:txBody>
      </p:sp>
      <p:sp>
        <p:nvSpPr>
          <p:cNvPr id="11" name="Text 9"/>
          <p:cNvSpPr txBox="1"/>
          <p:nvPr/>
        </p:nvSpPr>
        <p:spPr>
          <a:xfrm>
            <a:off x="777240" y="3794760"/>
            <a:ext cx="3520440" cy="256032"/>
          </a:xfrm>
          <a:prstGeom prst="rect">
            <a:avLst/>
          </a:prstGeom>
          <a:noFill/>
          <a:ln/>
        </p:spPr>
        <p:txBody>
          <a:bodyPr wrap="square" lIns="0" tIns="0" rIns="0" bIns="0" rtlCol="0" anchor="t"/>
          <a:lstStyle/>
          <a:p>
            <a:pPr indent="0" marL="0">
              <a:buNone/>
            </a:pPr>
            <a:r>
              <a:rPr lang="en-US" sz="1400" b="1" dirty="0">
                <a:solidFill>
                  <a:schemeClr val="accent3"/>
                </a:solidFill>
              </a:rPr>
              <a:t>Decision</a:t>
            </a:r>
            <a:endParaRPr lang="en-US" sz="1400" dirty="0"/>
          </a:p>
        </p:txBody>
      </p:sp>
      <p:sp>
        <p:nvSpPr>
          <p:cNvPr id="12" name="Text 10"/>
          <p:cNvSpPr txBox="1"/>
          <p:nvPr/>
        </p:nvSpPr>
        <p:spPr>
          <a:xfrm>
            <a:off x="777240" y="4069080"/>
            <a:ext cx="3520440" cy="438912"/>
          </a:xfrm>
          <a:prstGeom prst="rect">
            <a:avLst/>
          </a:prstGeom>
          <a:noFill/>
          <a:ln/>
        </p:spPr>
        <p:txBody>
          <a:bodyPr wrap="square" lIns="0" tIns="0" rIns="0" bIns="0" rtlCol="0" anchor="t"/>
          <a:lstStyle/>
          <a:p>
            <a:pPr indent="0" marL="0">
              <a:buNone/>
            </a:pPr>
            <a:r>
              <a:rPr lang="en-US" sz="1400" dirty="0">
                <a:solidFill>
                  <a:schemeClr val="tx1"/>
                </a:solidFill>
              </a:rPr>
              <a:t>≥ 0.50 answer  ·  0.32 to 0.49 suggest  ·  below 0.32 refer to the office</a:t>
            </a:r>
            <a:endParaRPr lang="en-US" sz="1400" dirty="0"/>
          </a:p>
        </p:txBody>
      </p:sp>
      <p:graphicFrame>
        <p:nvGraphicFramePr>
          <p:cNvPr id="13" name="Chart 0" descr=""/>
          <p:cNvGraphicFramePr/>
          <p:nvPr/>
        </p:nvGraphicFramePr>
        <p:xfrm>
          <a:off x="4709160" y="1417320"/>
          <a:ext cx="3886200" cy="2743200"/>
        </p:xfrm>
        <a:graphic xmlns:a="http://schemas.openxmlformats.org/drawingml/2006/main">
          <a:graphicData uri="http://schemas.openxmlformats.org/drawingml/2006/chart">
            <c:chart xmlns:c="http://schemas.openxmlformats.org/drawingml/2006/chart" r:id="rId1"/>
          </a:graphicData>
        </a:graphic>
      </p:graphicFrame>
      <p:sp>
        <p:nvSpPr>
          <p:cNvPr id="14" name="Text 11"/>
          <p:cNvSpPr txBox="1"/>
          <p:nvPr/>
        </p:nvSpPr>
        <p:spPr>
          <a:xfrm>
            <a:off x="4709160" y="4206240"/>
            <a:ext cx="3886200" cy="411480"/>
          </a:xfrm>
          <a:prstGeom prst="rect">
            <a:avLst/>
          </a:prstGeom>
          <a:noFill/>
          <a:ln/>
        </p:spPr>
        <p:txBody>
          <a:bodyPr wrap="square" lIns="0" tIns="0" rIns="0" bIns="0" rtlCol="0" anchor="t"/>
          <a:lstStyle/>
          <a:p>
            <a:pPr indent="0" marL="0">
              <a:buNone/>
            </a:pPr>
            <a:r>
              <a:rPr lang="en-US" sz="1200" dirty="0">
                <a:solidFill>
                  <a:schemeClr val="tx2"/>
                </a:solidFill>
              </a:rPr>
              <a:t>Four stored questions. D1 scores 0.741 ≥ 0.50, so the bot answers (npm run example).</a:t>
            </a:r>
            <a:endParaRPr lang="en-US" sz="1200" dirty="0"/>
          </a:p>
        </p:txBody>
      </p:sp>
      <p:sp>
        <p:nvSpPr>
          <p:cNvPr id="25" name="Slide Number Placeholder 0"/>
          <p:cNvSpPr>
            <a:spLocks noGrp="1"/>
          </p:cNvSpPr>
          <p:nvPr>
            <p:ph type="sldNum" sz="quarter" idx="4294967295"/>
          </p:nvPr>
        </p:nvSpPr>
        <p:spPr>
          <a:xfrm>
            <a:off x="8138160" y="4754880"/>
            <a:ext cx="457200" cy="219456"/>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046720" cy="274320"/>
          </a:xfrm>
          <a:prstGeom prst="rect">
            <a:avLst/>
          </a:prstGeom>
          <a:noFill/>
          <a:ln/>
        </p:spPr>
        <p:txBody>
          <a:bodyPr wrap="square" lIns="0" tIns="0" rIns="0" bIns="0" rtlCol="0" anchor="t"/>
          <a:lstStyle/>
          <a:p>
            <a:pPr algn="l" indent="0" marL="0">
              <a:buNone/>
            </a:pPr>
            <a:r>
              <a:rPr lang="en-US" sz="1200" b="1" spc="150" kern="0" dirty="0">
                <a:solidFill>
                  <a:schemeClr val="accent3"/>
                </a:solidFill>
              </a:rPr>
              <a:t>SYSTEM DESIGN</a:t>
            </a:r>
            <a:endParaRPr lang="en-US" sz="1200" dirty="0"/>
          </a:p>
        </p:txBody>
      </p:sp>
      <p:sp>
        <p:nvSpPr>
          <p:cNvPr id="3" name="Text 0"/>
          <p:cNvSpPr/>
          <p:nvPr>
            <p:ph idx="101" type="title" hasCustomPrompt="1"/>
          </p:nvPr>
        </p:nvSpPr>
        <p:spPr>
          <a:xfrm>
            <a:off x="548640" y="585216"/>
            <a:ext cx="8046720" cy="658368"/>
          </a:xfrm>
          <a:prstGeom prst="rect">
            <a:avLst/>
          </a:prstGeom>
          <a:noFill/>
          <a:ln/>
        </p:spPr>
        <p:txBody>
          <a:bodyPr wrap="square" lIns="0" tIns="0" rIns="0" bIns="0" rtlCol="0" anchor="t"/>
          <a:lstStyle/>
          <a:p>
            <a:pPr algn="l" indent="0" marL="0">
              <a:buNone/>
            </a:pPr>
            <a:r>
              <a:rPr lang="en-US" sz="3200" b="1" dirty="0">
                <a:solidFill>
                  <a:schemeClr val="tx1"/>
                </a:solidFill>
              </a:rPr>
              <a:t>Three tiers on one computer</a:t>
            </a:r>
            <a:endParaRPr lang="en-US" sz="3200" dirty="0"/>
          </a:p>
        </p:txBody>
      </p:sp>
      <p:sp>
        <p:nvSpPr>
          <p:cNvPr id="4" name="Architecture card"/>
          <p:cNvSpPr/>
          <p:nvPr/>
        </p:nvSpPr>
        <p:spPr>
          <a:xfrm>
            <a:off x="548640" y="1417320"/>
            <a:ext cx="5257800" cy="3200400"/>
          </a:xfrm>
          <a:prstGeom prst="roundRect">
            <a:avLst>
              <a:gd name="adj" fmla="val 4000"/>
            </a:avLst>
          </a:prstGeom>
          <a:solidFill>
            <a:schemeClr val="bg1"/>
          </a:solidFill>
          <a:ln w="9525">
            <a:solidFill>
              <a:schemeClr val="accent5"/>
            </a:solidFill>
            <a:prstDash val="solid"/>
          </a:ln>
        </p:spPr>
      </p:sp>
      <p:sp>
        <p:nvSpPr>
          <p:cNvPr id="5" name="Browser tier"/>
          <p:cNvSpPr/>
          <p:nvPr/>
        </p:nvSpPr>
        <p:spPr>
          <a:xfrm>
            <a:off x="731520" y="1600200"/>
            <a:ext cx="1325880" cy="2834640"/>
          </a:xfrm>
          <a:prstGeom prst="roundRect">
            <a:avLst>
              <a:gd name="adj" fmla="val 6897"/>
            </a:avLst>
          </a:prstGeom>
          <a:solidFill>
            <a:schemeClr val="bg2"/>
          </a:solidFill>
          <a:ln w="9525">
            <a:solidFill>
              <a:schemeClr val="accent5"/>
            </a:solidFill>
            <a:prstDash val="solid"/>
          </a:ln>
        </p:spPr>
      </p:sp>
      <p:sp>
        <p:nvSpPr>
          <p:cNvPr id="6" name="Text 4"/>
          <p:cNvSpPr txBox="1"/>
          <p:nvPr/>
        </p:nvSpPr>
        <p:spPr>
          <a:xfrm>
            <a:off x="822960" y="1691640"/>
            <a:ext cx="1143000" cy="274320"/>
          </a:xfrm>
          <a:prstGeom prst="rect">
            <a:avLst/>
          </a:prstGeom>
          <a:noFill/>
          <a:ln/>
        </p:spPr>
        <p:txBody>
          <a:bodyPr wrap="square" lIns="0" tIns="0" rIns="0" bIns="0" rtlCol="0" anchor="t"/>
          <a:lstStyle/>
          <a:p>
            <a:pPr algn="ctr" indent="0" marL="0">
              <a:buNone/>
            </a:pPr>
            <a:r>
              <a:rPr lang="en-US" sz="1400" b="1" dirty="0">
                <a:solidFill>
                  <a:schemeClr val="tx1"/>
                </a:solidFill>
              </a:rPr>
              <a:t>Browser</a:t>
            </a:r>
            <a:endParaRPr lang="en-US" sz="1400" dirty="0"/>
          </a:p>
        </p:txBody>
      </p:sp>
      <p:sp>
        <p:nvSpPr>
          <p:cNvPr id="7" name="Student chat box"/>
          <p:cNvSpPr/>
          <p:nvPr/>
        </p:nvSpPr>
        <p:spPr>
          <a:xfrm>
            <a:off x="841248" y="2103120"/>
            <a:ext cx="1106424" cy="420624"/>
          </a:xfrm>
          <a:prstGeom prst="roundRect">
            <a:avLst>
              <a:gd name="adj" fmla="val 17391"/>
            </a:avLst>
          </a:prstGeom>
          <a:solidFill>
            <a:schemeClr val="bg1"/>
          </a:solidFill>
          <a:ln w="6350">
            <a:solidFill>
              <a:schemeClr val="accent5"/>
            </a:solidFill>
            <a:prstDash val="solid"/>
          </a:ln>
        </p:spPr>
      </p:sp>
      <p:sp>
        <p:nvSpPr>
          <p:cNvPr id="8" name="Text 6"/>
          <p:cNvSpPr txBox="1"/>
          <p:nvPr/>
        </p:nvSpPr>
        <p:spPr>
          <a:xfrm>
            <a:off x="896112" y="2103120"/>
            <a:ext cx="996696" cy="420624"/>
          </a:xfrm>
          <a:prstGeom prst="rect">
            <a:avLst/>
          </a:prstGeom>
          <a:noFill/>
          <a:ln/>
        </p:spPr>
        <p:txBody>
          <a:bodyPr wrap="square" lIns="0" tIns="0" rIns="0" bIns="0" rtlCol="0" anchor="ctr"/>
          <a:lstStyle/>
          <a:p>
            <a:pPr algn="ctr" indent="0" marL="0">
              <a:buNone/>
            </a:pPr>
            <a:r>
              <a:rPr lang="en-US" sz="1200" dirty="0">
                <a:solidFill>
                  <a:schemeClr val="tx1"/>
                </a:solidFill>
              </a:rPr>
              <a:t>Student chat</a:t>
            </a:r>
            <a:endParaRPr lang="en-US" sz="1200" dirty="0"/>
          </a:p>
        </p:txBody>
      </p:sp>
      <p:sp>
        <p:nvSpPr>
          <p:cNvPr id="9" name="How it works box"/>
          <p:cNvSpPr/>
          <p:nvPr/>
        </p:nvSpPr>
        <p:spPr>
          <a:xfrm>
            <a:off x="841248" y="2651760"/>
            <a:ext cx="1106424" cy="420624"/>
          </a:xfrm>
          <a:prstGeom prst="roundRect">
            <a:avLst>
              <a:gd name="adj" fmla="val 17391"/>
            </a:avLst>
          </a:prstGeom>
          <a:solidFill>
            <a:schemeClr val="bg1"/>
          </a:solidFill>
          <a:ln w="6350">
            <a:solidFill>
              <a:schemeClr val="accent5"/>
            </a:solidFill>
            <a:prstDash val="solid"/>
          </a:ln>
        </p:spPr>
      </p:sp>
      <p:sp>
        <p:nvSpPr>
          <p:cNvPr id="10" name="Text 8"/>
          <p:cNvSpPr txBox="1"/>
          <p:nvPr/>
        </p:nvSpPr>
        <p:spPr>
          <a:xfrm>
            <a:off x="896112" y="2651760"/>
            <a:ext cx="996696" cy="420624"/>
          </a:xfrm>
          <a:prstGeom prst="rect">
            <a:avLst/>
          </a:prstGeom>
          <a:noFill/>
          <a:ln/>
        </p:spPr>
        <p:txBody>
          <a:bodyPr wrap="square" lIns="0" tIns="0" rIns="0" bIns="0" rtlCol="0" anchor="ctr"/>
          <a:lstStyle/>
          <a:p>
            <a:pPr algn="ctr" indent="0" marL="0">
              <a:buNone/>
            </a:pPr>
            <a:r>
              <a:rPr lang="en-US" sz="1200" dirty="0">
                <a:solidFill>
                  <a:schemeClr val="tx1"/>
                </a:solidFill>
              </a:rPr>
              <a:t>How it works</a:t>
            </a:r>
            <a:endParaRPr lang="en-US" sz="1200" dirty="0"/>
          </a:p>
        </p:txBody>
      </p:sp>
      <p:sp>
        <p:nvSpPr>
          <p:cNvPr id="11" name="Contacts box"/>
          <p:cNvSpPr/>
          <p:nvPr/>
        </p:nvSpPr>
        <p:spPr>
          <a:xfrm>
            <a:off x="841248" y="3200400"/>
            <a:ext cx="1106424" cy="420624"/>
          </a:xfrm>
          <a:prstGeom prst="roundRect">
            <a:avLst>
              <a:gd name="adj" fmla="val 17391"/>
            </a:avLst>
          </a:prstGeom>
          <a:solidFill>
            <a:schemeClr val="bg1"/>
          </a:solidFill>
          <a:ln w="6350">
            <a:solidFill>
              <a:schemeClr val="accent5"/>
            </a:solidFill>
            <a:prstDash val="solid"/>
          </a:ln>
        </p:spPr>
      </p:sp>
      <p:sp>
        <p:nvSpPr>
          <p:cNvPr id="12" name="Text 10"/>
          <p:cNvSpPr txBox="1"/>
          <p:nvPr/>
        </p:nvSpPr>
        <p:spPr>
          <a:xfrm>
            <a:off x="896112" y="3200400"/>
            <a:ext cx="996696" cy="420624"/>
          </a:xfrm>
          <a:prstGeom prst="rect">
            <a:avLst/>
          </a:prstGeom>
          <a:noFill/>
          <a:ln/>
        </p:spPr>
        <p:txBody>
          <a:bodyPr wrap="square" lIns="0" tIns="0" rIns="0" bIns="0" rtlCol="0" anchor="ctr"/>
          <a:lstStyle/>
          <a:p>
            <a:pPr algn="ctr" indent="0" marL="0">
              <a:buNone/>
            </a:pPr>
            <a:r>
              <a:rPr lang="en-US" sz="1200" dirty="0">
                <a:solidFill>
                  <a:schemeClr val="tx1"/>
                </a:solidFill>
              </a:rPr>
              <a:t>Contacts</a:t>
            </a:r>
            <a:endParaRPr lang="en-US" sz="1200" dirty="0"/>
          </a:p>
        </p:txBody>
      </p:sp>
      <p:sp>
        <p:nvSpPr>
          <p:cNvPr id="13" name="Admin area box"/>
          <p:cNvSpPr/>
          <p:nvPr/>
        </p:nvSpPr>
        <p:spPr>
          <a:xfrm>
            <a:off x="841248" y="3749040"/>
            <a:ext cx="1106424" cy="420624"/>
          </a:xfrm>
          <a:prstGeom prst="roundRect">
            <a:avLst>
              <a:gd name="adj" fmla="val 17391"/>
            </a:avLst>
          </a:prstGeom>
          <a:solidFill>
            <a:schemeClr val="bg1"/>
          </a:solidFill>
          <a:ln w="6350">
            <a:solidFill>
              <a:schemeClr val="accent5"/>
            </a:solidFill>
            <a:prstDash val="solid"/>
          </a:ln>
        </p:spPr>
      </p:sp>
      <p:sp>
        <p:nvSpPr>
          <p:cNvPr id="14" name="Text 12"/>
          <p:cNvSpPr txBox="1"/>
          <p:nvPr/>
        </p:nvSpPr>
        <p:spPr>
          <a:xfrm>
            <a:off x="896112" y="3749040"/>
            <a:ext cx="996696" cy="420624"/>
          </a:xfrm>
          <a:prstGeom prst="rect">
            <a:avLst/>
          </a:prstGeom>
          <a:noFill/>
          <a:ln/>
        </p:spPr>
        <p:txBody>
          <a:bodyPr wrap="square" lIns="0" tIns="0" rIns="0" bIns="0" rtlCol="0" anchor="ctr"/>
          <a:lstStyle/>
          <a:p>
            <a:pPr algn="ctr" indent="0" marL="0">
              <a:buNone/>
            </a:pPr>
            <a:r>
              <a:rPr lang="en-US" sz="1200" dirty="0">
                <a:solidFill>
                  <a:schemeClr val="tx1"/>
                </a:solidFill>
              </a:rPr>
              <a:t>Admin area</a:t>
            </a:r>
            <a:endParaRPr lang="en-US" sz="1200" dirty="0"/>
          </a:p>
        </p:txBody>
      </p:sp>
      <p:sp>
        <p:nvSpPr>
          <p:cNvPr id="15" name="Next.js server tier"/>
          <p:cNvSpPr/>
          <p:nvPr/>
        </p:nvSpPr>
        <p:spPr>
          <a:xfrm>
            <a:off x="2377440" y="1600200"/>
            <a:ext cx="1874520" cy="2834640"/>
          </a:xfrm>
          <a:prstGeom prst="roundRect">
            <a:avLst>
              <a:gd name="adj" fmla="val 4878"/>
            </a:avLst>
          </a:prstGeom>
          <a:solidFill>
            <a:schemeClr val="accent4"/>
          </a:solidFill>
          <a:ln w="9525">
            <a:solidFill>
              <a:schemeClr val="accent1"/>
            </a:solidFill>
            <a:prstDash val="solid"/>
          </a:ln>
        </p:spPr>
      </p:sp>
      <p:sp>
        <p:nvSpPr>
          <p:cNvPr id="16" name="Text 14"/>
          <p:cNvSpPr txBox="1"/>
          <p:nvPr/>
        </p:nvSpPr>
        <p:spPr>
          <a:xfrm>
            <a:off x="2468880" y="1691640"/>
            <a:ext cx="1691640" cy="274320"/>
          </a:xfrm>
          <a:prstGeom prst="rect">
            <a:avLst/>
          </a:prstGeom>
          <a:noFill/>
          <a:ln/>
        </p:spPr>
        <p:txBody>
          <a:bodyPr wrap="square" lIns="0" tIns="0" rIns="0" bIns="0" rtlCol="0" anchor="t"/>
          <a:lstStyle/>
          <a:p>
            <a:pPr algn="ctr" indent="0" marL="0">
              <a:buNone/>
            </a:pPr>
            <a:r>
              <a:rPr lang="en-US" sz="1400" b="1" dirty="0">
                <a:solidFill>
                  <a:schemeClr val="tx1"/>
                </a:solidFill>
              </a:rPr>
              <a:t>Next.js server</a:t>
            </a:r>
            <a:endParaRPr lang="en-US" sz="1400" dirty="0"/>
          </a:p>
        </p:txBody>
      </p:sp>
      <p:sp>
        <p:nvSpPr>
          <p:cNvPr id="17" name="API routes box"/>
          <p:cNvSpPr/>
          <p:nvPr/>
        </p:nvSpPr>
        <p:spPr>
          <a:xfrm>
            <a:off x="2487168" y="2103120"/>
            <a:ext cx="1655064" cy="384048"/>
          </a:xfrm>
          <a:prstGeom prst="roundRect">
            <a:avLst>
              <a:gd name="adj" fmla="val 19048"/>
            </a:avLst>
          </a:prstGeom>
          <a:solidFill>
            <a:schemeClr val="bg1"/>
          </a:solidFill>
          <a:ln w="6350">
            <a:solidFill>
              <a:schemeClr val="accent5"/>
            </a:solidFill>
            <a:prstDash val="solid"/>
          </a:ln>
        </p:spPr>
      </p:sp>
      <p:sp>
        <p:nvSpPr>
          <p:cNvPr id="18" name="Text 16"/>
          <p:cNvSpPr txBox="1"/>
          <p:nvPr/>
        </p:nvSpPr>
        <p:spPr>
          <a:xfrm>
            <a:off x="2542032" y="2103120"/>
            <a:ext cx="1545336" cy="384048"/>
          </a:xfrm>
          <a:prstGeom prst="rect">
            <a:avLst/>
          </a:prstGeom>
          <a:noFill/>
          <a:ln/>
        </p:spPr>
        <p:txBody>
          <a:bodyPr wrap="square" lIns="0" tIns="0" rIns="0" bIns="0" rtlCol="0" anchor="ctr"/>
          <a:lstStyle/>
          <a:p>
            <a:pPr algn="ctr" indent="0" marL="0">
              <a:buNone/>
            </a:pPr>
            <a:r>
              <a:rPr lang="en-US" sz="1200" dirty="0">
                <a:solidFill>
                  <a:schemeClr val="tx1"/>
                </a:solidFill>
              </a:rPr>
              <a:t>API routes</a:t>
            </a:r>
            <a:endParaRPr lang="en-US" sz="1200" dirty="0"/>
          </a:p>
        </p:txBody>
      </p:sp>
      <p:sp>
        <p:nvSpPr>
          <p:cNvPr id="19" name="NLP engine box"/>
          <p:cNvSpPr/>
          <p:nvPr/>
        </p:nvSpPr>
        <p:spPr>
          <a:xfrm>
            <a:off x="2487168" y="2578608"/>
            <a:ext cx="1655064" cy="713232"/>
          </a:xfrm>
          <a:prstGeom prst="roundRect">
            <a:avLst>
              <a:gd name="adj" fmla="val 10256"/>
            </a:avLst>
          </a:prstGeom>
          <a:solidFill>
            <a:schemeClr val="bg1"/>
          </a:solidFill>
          <a:ln w="6350">
            <a:solidFill>
              <a:schemeClr val="accent5"/>
            </a:solidFill>
            <a:prstDash val="solid"/>
          </a:ln>
        </p:spPr>
      </p:sp>
      <p:sp>
        <p:nvSpPr>
          <p:cNvPr id="20" name="Text 18"/>
          <p:cNvSpPr txBox="1"/>
          <p:nvPr/>
        </p:nvSpPr>
        <p:spPr>
          <a:xfrm>
            <a:off x="2542032" y="2578608"/>
            <a:ext cx="1545336" cy="713232"/>
          </a:xfrm>
          <a:prstGeom prst="rect">
            <a:avLst/>
          </a:prstGeom>
          <a:noFill/>
          <a:ln/>
        </p:spPr>
        <p:txBody>
          <a:bodyPr wrap="square" lIns="0" tIns="0" rIns="0" bIns="0" rtlCol="0" anchor="ctr"/>
          <a:lstStyle/>
          <a:p>
            <a:pPr algn="ctr" indent="0" marL="0">
              <a:buNone/>
            </a:pPr>
            <a:r>
              <a:rPr lang="en-US" sz="1200" b="1" dirty="0">
                <a:solidFill>
                  <a:schemeClr val="tx1"/>
                </a:solidFill>
              </a:rPr>
              <a:t>NLP engine</a:t>
            </a:r>
            <a:endParaRPr lang="en-US" sz="1200" dirty="0"/>
          </a:p>
          <a:p>
            <a:pPr algn="ctr" indent="0" marL="0">
              <a:buNone/>
            </a:pPr>
            <a:r>
              <a:rPr lang="en-US" sz="1000" dirty="0">
                <a:solidFill>
                  <a:srgbClr val="5C544C"/>
                </a:solidFill>
              </a:rPr>
              <a:t>clean · typos · rules · stem · TF-IDF + trigram · decide</a:t>
            </a:r>
            <a:endParaRPr lang="en-US" sz="1200" dirty="0"/>
          </a:p>
        </p:txBody>
      </p:sp>
      <p:sp>
        <p:nvSpPr>
          <p:cNvPr id="21" name="Index in memory box"/>
          <p:cNvSpPr/>
          <p:nvPr/>
        </p:nvSpPr>
        <p:spPr>
          <a:xfrm>
            <a:off x="2487168" y="3383280"/>
            <a:ext cx="1655064" cy="384048"/>
          </a:xfrm>
          <a:prstGeom prst="roundRect">
            <a:avLst>
              <a:gd name="adj" fmla="val 19048"/>
            </a:avLst>
          </a:prstGeom>
          <a:solidFill>
            <a:schemeClr val="bg1"/>
          </a:solidFill>
          <a:ln w="6350">
            <a:solidFill>
              <a:schemeClr val="accent5"/>
            </a:solidFill>
            <a:prstDash val="solid"/>
          </a:ln>
        </p:spPr>
      </p:sp>
      <p:sp>
        <p:nvSpPr>
          <p:cNvPr id="22" name="Text 20"/>
          <p:cNvSpPr txBox="1"/>
          <p:nvPr/>
        </p:nvSpPr>
        <p:spPr>
          <a:xfrm>
            <a:off x="2542032" y="3383280"/>
            <a:ext cx="1545336" cy="384048"/>
          </a:xfrm>
          <a:prstGeom prst="rect">
            <a:avLst/>
          </a:prstGeom>
          <a:noFill/>
          <a:ln/>
        </p:spPr>
        <p:txBody>
          <a:bodyPr wrap="square" lIns="0" tIns="0" rIns="0" bIns="0" rtlCol="0" anchor="ctr"/>
          <a:lstStyle/>
          <a:p>
            <a:pPr algn="ctr" indent="0" marL="0">
              <a:buNone/>
            </a:pPr>
            <a:r>
              <a:rPr lang="en-US" sz="1200" dirty="0">
                <a:solidFill>
                  <a:schemeClr val="tx1"/>
                </a:solidFill>
              </a:rPr>
              <a:t>Index in memory</a:t>
            </a:r>
            <a:endParaRPr lang="en-US" sz="1200" dirty="0"/>
          </a:p>
        </p:txBody>
      </p:sp>
      <p:sp>
        <p:nvSpPr>
          <p:cNvPr id="23" name="Login and sessions box"/>
          <p:cNvSpPr/>
          <p:nvPr/>
        </p:nvSpPr>
        <p:spPr>
          <a:xfrm>
            <a:off x="2487168" y="3858768"/>
            <a:ext cx="1655064" cy="384048"/>
          </a:xfrm>
          <a:prstGeom prst="roundRect">
            <a:avLst>
              <a:gd name="adj" fmla="val 19048"/>
            </a:avLst>
          </a:prstGeom>
          <a:solidFill>
            <a:schemeClr val="bg1"/>
          </a:solidFill>
          <a:ln w="6350">
            <a:solidFill>
              <a:schemeClr val="accent5"/>
            </a:solidFill>
            <a:prstDash val="solid"/>
          </a:ln>
        </p:spPr>
      </p:sp>
      <p:sp>
        <p:nvSpPr>
          <p:cNvPr id="24" name="Text 22"/>
          <p:cNvSpPr txBox="1"/>
          <p:nvPr/>
        </p:nvSpPr>
        <p:spPr>
          <a:xfrm>
            <a:off x="2542032" y="3858768"/>
            <a:ext cx="1545336" cy="384048"/>
          </a:xfrm>
          <a:prstGeom prst="rect">
            <a:avLst/>
          </a:prstGeom>
          <a:noFill/>
          <a:ln/>
        </p:spPr>
        <p:txBody>
          <a:bodyPr wrap="square" lIns="0" tIns="0" rIns="0" bIns="0" rtlCol="0" anchor="ctr"/>
          <a:lstStyle/>
          <a:p>
            <a:pPr algn="ctr" indent="0" marL="0">
              <a:buNone/>
            </a:pPr>
            <a:r>
              <a:rPr lang="en-US" sz="1200" dirty="0">
                <a:solidFill>
                  <a:schemeClr val="tx1"/>
                </a:solidFill>
              </a:rPr>
              <a:t>Login and sessions</a:t>
            </a:r>
            <a:endParaRPr lang="en-US" sz="1200" dirty="0"/>
          </a:p>
        </p:txBody>
      </p:sp>
      <p:sp>
        <p:nvSpPr>
          <p:cNvPr id="25" name="MySQL tier"/>
          <p:cNvSpPr/>
          <p:nvPr/>
        </p:nvSpPr>
        <p:spPr>
          <a:xfrm>
            <a:off x="4572000" y="1600200"/>
            <a:ext cx="1097280" cy="2834640"/>
          </a:xfrm>
          <a:prstGeom prst="roundRect">
            <a:avLst>
              <a:gd name="adj" fmla="val 8333"/>
            </a:avLst>
          </a:prstGeom>
          <a:solidFill>
            <a:schemeClr val="bg2"/>
          </a:solidFill>
          <a:ln w="9525">
            <a:solidFill>
              <a:schemeClr val="accent5"/>
            </a:solidFill>
            <a:prstDash val="solid"/>
          </a:ln>
        </p:spPr>
      </p:sp>
      <p:sp>
        <p:nvSpPr>
          <p:cNvPr id="26" name="Text 24"/>
          <p:cNvSpPr txBox="1"/>
          <p:nvPr/>
        </p:nvSpPr>
        <p:spPr>
          <a:xfrm>
            <a:off x="4663440" y="1691640"/>
            <a:ext cx="914400" cy="274320"/>
          </a:xfrm>
          <a:prstGeom prst="rect">
            <a:avLst/>
          </a:prstGeom>
          <a:noFill/>
          <a:ln/>
        </p:spPr>
        <p:txBody>
          <a:bodyPr wrap="square" lIns="0" tIns="0" rIns="0" bIns="0" rtlCol="0" anchor="t"/>
          <a:lstStyle/>
          <a:p>
            <a:pPr algn="ctr" indent="0" marL="0">
              <a:buNone/>
            </a:pPr>
            <a:r>
              <a:rPr lang="en-US" sz="1400" b="1" dirty="0">
                <a:solidFill>
                  <a:schemeClr val="tx1"/>
                </a:solidFill>
              </a:rPr>
              <a:t>MySQL</a:t>
            </a:r>
            <a:endParaRPr lang="en-US" sz="1400" dirty="0"/>
          </a:p>
        </p:txBody>
      </p:sp>
      <p:sp>
        <p:nvSpPr>
          <p:cNvPr id="27" name="Text 25"/>
          <p:cNvSpPr txBox="1"/>
          <p:nvPr/>
        </p:nvSpPr>
        <p:spPr>
          <a:xfrm>
            <a:off x="4645152" y="2121408"/>
            <a:ext cx="969264" cy="2103120"/>
          </a:xfrm>
          <a:prstGeom prst="rect">
            <a:avLst/>
          </a:prstGeom>
          <a:noFill/>
          <a:ln/>
        </p:spPr>
        <p:txBody>
          <a:bodyPr wrap="square" lIns="0" tIns="0" rIns="0" bIns="0" rtlCol="0" anchor="t"/>
          <a:lstStyle/>
          <a:p>
            <a:pPr indent="0" marL="0">
              <a:spcAft>
                <a:spcPts val="200"/>
              </a:spcAft>
              <a:buNone/>
            </a:pPr>
            <a:r>
              <a:rPr lang="en-US" sz="1100" dirty="0">
                <a:solidFill>
                  <a:schemeClr val="tx1"/>
                </a:solidFill>
              </a:rPr>
              <a:t>qa_pairs</a:t>
            </a:r>
            <a:endParaRPr lang="en-US" sz="1100" dirty="0"/>
          </a:p>
          <a:p>
            <a:pPr indent="0" marL="0">
              <a:spcAft>
                <a:spcPts val="200"/>
              </a:spcAft>
              <a:buNone/>
            </a:pPr>
            <a:r>
              <a:rPr lang="en-US" sz="1100" dirty="0">
                <a:solidFill>
                  <a:schemeClr val="tx1"/>
                </a:solidFill>
              </a:rPr>
              <a:t>qa_variants</a:t>
            </a:r>
            <a:endParaRPr lang="en-US" sz="1100" dirty="0"/>
          </a:p>
          <a:p>
            <a:pPr indent="0" marL="0">
              <a:spcAft>
                <a:spcPts val="200"/>
              </a:spcAft>
              <a:buNone/>
            </a:pPr>
            <a:r>
              <a:rPr lang="en-US" sz="1100" dirty="0">
                <a:solidFill>
                  <a:schemeClr val="tx1"/>
                </a:solidFill>
              </a:rPr>
              <a:t>language_rules</a:t>
            </a:r>
            <a:endParaRPr lang="en-US" sz="1100" dirty="0"/>
          </a:p>
          <a:p>
            <a:pPr indent="0" marL="0">
              <a:spcAft>
                <a:spcPts val="200"/>
              </a:spcAft>
              <a:buNone/>
            </a:pPr>
            <a:r>
              <a:rPr lang="en-US" sz="1100" dirty="0">
                <a:solidFill>
                  <a:schemeClr val="tx1"/>
                </a:solidFill>
              </a:rPr>
              <a:t>chat_logs</a:t>
            </a:r>
            <a:endParaRPr lang="en-US" sz="1100" dirty="0"/>
          </a:p>
          <a:p>
            <a:pPr indent="0" marL="0">
              <a:spcAft>
                <a:spcPts val="200"/>
              </a:spcAft>
              <a:buNone/>
            </a:pPr>
            <a:r>
              <a:rPr lang="en-US" sz="1100" dirty="0">
                <a:solidFill>
                  <a:schemeClr val="tx1"/>
                </a:solidFill>
              </a:rPr>
              <a:t>unanswered_</a:t>
            </a:r>
            <a:endParaRPr lang="en-US" sz="1100" dirty="0"/>
          </a:p>
          <a:p>
            <a:pPr indent="0" marL="0">
              <a:spcAft>
                <a:spcPts val="200"/>
              </a:spcAft>
              <a:buNone/>
            </a:pPr>
            <a:r>
              <a:rPr lang="en-US" sz="1100" dirty="0">
                <a:solidFill>
                  <a:schemeClr val="tx1"/>
                </a:solidFill>
              </a:rPr>
              <a:t>  questions</a:t>
            </a:r>
            <a:endParaRPr lang="en-US" sz="1100" dirty="0"/>
          </a:p>
          <a:p>
            <a:pPr indent="0" marL="0">
              <a:spcAft>
                <a:spcPts val="200"/>
              </a:spcAft>
              <a:buNone/>
            </a:pPr>
            <a:r>
              <a:rPr lang="en-US" sz="1100" dirty="0">
                <a:solidFill>
                  <a:schemeClr val="tx1"/>
                </a:solidFill>
              </a:rPr>
              <a:t>+ 6 more</a:t>
            </a:r>
            <a:endParaRPr lang="en-US" sz="1100" dirty="0"/>
          </a:p>
        </p:txBody>
      </p:sp>
      <p:sp>
        <p:nvSpPr>
          <p:cNvPr id="28" name="Data flow arrow"/>
          <p:cNvSpPr/>
          <p:nvPr/>
        </p:nvSpPr>
        <p:spPr>
          <a:xfrm>
            <a:off x="2057400" y="3017520"/>
            <a:ext cx="320040" cy="0"/>
          </a:xfrm>
          <a:prstGeom prst="line">
            <a:avLst/>
          </a:prstGeom>
          <a:noFill/>
          <a:ln w="19050">
            <a:solidFill>
              <a:schemeClr val="tx2"/>
            </a:solidFill>
            <a:prstDash val="solid"/>
            <a:headEnd type="triangle"/>
            <a:tailEnd type="triangle"/>
          </a:ln>
        </p:spPr>
      </p:sp>
      <p:sp>
        <p:nvSpPr>
          <p:cNvPr id="29" name="Data flow arrow"/>
          <p:cNvSpPr/>
          <p:nvPr/>
        </p:nvSpPr>
        <p:spPr>
          <a:xfrm>
            <a:off x="4251960" y="3017520"/>
            <a:ext cx="320040" cy="0"/>
          </a:xfrm>
          <a:prstGeom prst="line">
            <a:avLst/>
          </a:prstGeom>
          <a:noFill/>
          <a:ln w="19050">
            <a:solidFill>
              <a:schemeClr val="tx2"/>
            </a:solidFill>
            <a:prstDash val="solid"/>
            <a:headEnd type="triangle"/>
            <a:tailEnd type="triangle"/>
          </a:ln>
        </p:spPr>
      </p:sp>
      <p:sp>
        <p:nvSpPr>
          <p:cNvPr id="30" name="Browser circle"/>
          <p:cNvSpPr/>
          <p:nvPr/>
        </p:nvSpPr>
        <p:spPr>
          <a:xfrm>
            <a:off x="6035040" y="1481328"/>
            <a:ext cx="420624" cy="420624"/>
          </a:xfrm>
          <a:prstGeom prst="ellipse">
            <a:avLst/>
          </a:prstGeom>
          <a:solidFill>
            <a:schemeClr val="accent4"/>
          </a:solidFill>
          <a:ln/>
        </p:spPr>
      </p:sp>
      <p:pic>
        <p:nvPicPr>
          <p:cNvPr id="31" name="Browser icon" descr="Browser icon">    </p:cNvPr>
          <p:cNvPicPr>
            <a:picLocks noChangeAspect="1"/>
          </p:cNvPicPr>
          <p:nvPr/>
        </p:nvPicPr>
        <p:blipFill>
          <a:blip r:embed="rId1"/>
          <a:stretch>
            <a:fillRect/>
          </a:stretch>
        </p:blipFill>
        <p:spPr>
          <a:xfrm>
            <a:off x="6131784" y="1578072"/>
            <a:ext cx="227137" cy="227137"/>
          </a:xfrm>
          <a:prstGeom prst="rect">
            <a:avLst/>
          </a:prstGeom>
        </p:spPr>
      </p:pic>
      <p:sp>
        <p:nvSpPr>
          <p:cNvPr id="32" name="Text 29"/>
          <p:cNvSpPr txBox="1"/>
          <p:nvPr/>
        </p:nvSpPr>
        <p:spPr>
          <a:xfrm>
            <a:off x="6583680" y="1463040"/>
            <a:ext cx="2011680" cy="731520"/>
          </a:xfrm>
          <a:prstGeom prst="rect">
            <a:avLst/>
          </a:prstGeom>
          <a:noFill/>
          <a:ln/>
        </p:spPr>
        <p:txBody>
          <a:bodyPr wrap="square" lIns="0" tIns="0" rIns="0" bIns="0" rtlCol="0" anchor="t"/>
          <a:lstStyle/>
          <a:p>
            <a:pPr indent="0" marL="0">
              <a:buNone/>
            </a:pPr>
            <a:r>
              <a:rPr lang="en-US" sz="1400" dirty="0">
                <a:solidFill>
                  <a:schemeClr val="tx1"/>
                </a:solidFill>
              </a:rPr>
              <a:t>Pages: chat, how it works, contacts, admin</a:t>
            </a:r>
            <a:endParaRPr lang="en-US" sz="1400" dirty="0"/>
          </a:p>
        </p:txBody>
      </p:sp>
      <p:sp>
        <p:nvSpPr>
          <p:cNvPr id="33" name="Cpu circle"/>
          <p:cNvSpPr/>
          <p:nvPr/>
        </p:nvSpPr>
        <p:spPr>
          <a:xfrm>
            <a:off x="6035040" y="2267712"/>
            <a:ext cx="420624" cy="420624"/>
          </a:xfrm>
          <a:prstGeom prst="ellipse">
            <a:avLst/>
          </a:prstGeom>
          <a:solidFill>
            <a:schemeClr val="accent4"/>
          </a:solidFill>
          <a:ln/>
        </p:spPr>
      </p:sp>
      <p:pic>
        <p:nvPicPr>
          <p:cNvPr id="34" name="Cpu icon" descr="Cpu icon">    </p:cNvPr>
          <p:cNvPicPr>
            <a:picLocks noChangeAspect="1"/>
          </p:cNvPicPr>
          <p:nvPr/>
        </p:nvPicPr>
        <p:blipFill>
          <a:blip r:embed="rId2"/>
          <a:stretch>
            <a:fillRect/>
          </a:stretch>
        </p:blipFill>
        <p:spPr>
          <a:xfrm>
            <a:off x="6131784" y="2364456"/>
            <a:ext cx="227137" cy="227137"/>
          </a:xfrm>
          <a:prstGeom prst="rect">
            <a:avLst/>
          </a:prstGeom>
        </p:spPr>
      </p:pic>
      <p:sp>
        <p:nvSpPr>
          <p:cNvPr id="35" name="Text 31"/>
          <p:cNvSpPr txBox="1"/>
          <p:nvPr/>
        </p:nvSpPr>
        <p:spPr>
          <a:xfrm>
            <a:off x="6583680" y="2249424"/>
            <a:ext cx="2011680" cy="731520"/>
          </a:xfrm>
          <a:prstGeom prst="rect">
            <a:avLst/>
          </a:prstGeom>
          <a:noFill/>
          <a:ln/>
        </p:spPr>
        <p:txBody>
          <a:bodyPr wrap="square" lIns="0" tIns="0" rIns="0" bIns="0" rtlCol="0" anchor="t"/>
          <a:lstStyle/>
          <a:p>
            <a:pPr indent="0" marL="0">
              <a:buNone/>
            </a:pPr>
            <a:r>
              <a:rPr lang="en-US" sz="1400" dirty="0">
                <a:solidFill>
                  <a:schemeClr val="tx1"/>
                </a:solidFill>
              </a:rPr>
              <a:t>Next.js server: API routes and the NLP engine</a:t>
            </a:r>
            <a:endParaRPr lang="en-US" sz="1400" dirty="0"/>
          </a:p>
        </p:txBody>
      </p:sp>
      <p:sp>
        <p:nvSpPr>
          <p:cNvPr id="36" name="Database circle"/>
          <p:cNvSpPr/>
          <p:nvPr/>
        </p:nvSpPr>
        <p:spPr>
          <a:xfrm>
            <a:off x="6035040" y="3054096"/>
            <a:ext cx="420624" cy="420624"/>
          </a:xfrm>
          <a:prstGeom prst="ellipse">
            <a:avLst/>
          </a:prstGeom>
          <a:solidFill>
            <a:schemeClr val="accent4"/>
          </a:solidFill>
          <a:ln/>
        </p:spPr>
      </p:sp>
      <p:pic>
        <p:nvPicPr>
          <p:cNvPr id="37" name="Database icon" descr="Database icon">    </p:cNvPr>
          <p:cNvPicPr>
            <a:picLocks noChangeAspect="1"/>
          </p:cNvPicPr>
          <p:nvPr/>
        </p:nvPicPr>
        <p:blipFill>
          <a:blip r:embed="rId3"/>
          <a:stretch>
            <a:fillRect/>
          </a:stretch>
        </p:blipFill>
        <p:spPr>
          <a:xfrm>
            <a:off x="6131784" y="3150840"/>
            <a:ext cx="227137" cy="227137"/>
          </a:xfrm>
          <a:prstGeom prst="rect">
            <a:avLst/>
          </a:prstGeom>
        </p:spPr>
      </p:pic>
      <p:sp>
        <p:nvSpPr>
          <p:cNvPr id="38" name="Text 33"/>
          <p:cNvSpPr txBox="1"/>
          <p:nvPr/>
        </p:nvSpPr>
        <p:spPr>
          <a:xfrm>
            <a:off x="6583680" y="3035808"/>
            <a:ext cx="2011680" cy="731520"/>
          </a:xfrm>
          <a:prstGeom prst="rect">
            <a:avLst/>
          </a:prstGeom>
          <a:noFill/>
          <a:ln/>
        </p:spPr>
        <p:txBody>
          <a:bodyPr wrap="square" lIns="0" tIns="0" rIns="0" bIns="0" rtlCol="0" anchor="t"/>
          <a:lstStyle/>
          <a:p>
            <a:pPr indent="0" marL="0">
              <a:buNone/>
            </a:pPr>
            <a:r>
              <a:rPr lang="en-US" sz="1400" dirty="0">
                <a:solidFill>
                  <a:schemeClr val="tx1"/>
                </a:solidFill>
              </a:rPr>
              <a:t>MySQL in XAMPP: 11 tables</a:t>
            </a:r>
            <a:endParaRPr lang="en-US" sz="1400" dirty="0"/>
          </a:p>
        </p:txBody>
      </p:sp>
      <p:sp>
        <p:nvSpPr>
          <p:cNvPr id="39" name="WifiSlash circle"/>
          <p:cNvSpPr/>
          <p:nvPr/>
        </p:nvSpPr>
        <p:spPr>
          <a:xfrm>
            <a:off x="6035040" y="3840480"/>
            <a:ext cx="420624" cy="420624"/>
          </a:xfrm>
          <a:prstGeom prst="ellipse">
            <a:avLst/>
          </a:prstGeom>
          <a:solidFill>
            <a:schemeClr val="accent4"/>
          </a:solidFill>
          <a:ln/>
        </p:spPr>
      </p:sp>
      <p:pic>
        <p:nvPicPr>
          <p:cNvPr id="40" name="WifiSlash icon" descr="WifiSlash icon">    </p:cNvPr>
          <p:cNvPicPr>
            <a:picLocks noChangeAspect="1"/>
          </p:cNvPicPr>
          <p:nvPr/>
        </p:nvPicPr>
        <p:blipFill>
          <a:blip r:embed="rId4"/>
          <a:stretch>
            <a:fillRect/>
          </a:stretch>
        </p:blipFill>
        <p:spPr>
          <a:xfrm>
            <a:off x="6131784" y="3937224"/>
            <a:ext cx="227137" cy="227137"/>
          </a:xfrm>
          <a:prstGeom prst="rect">
            <a:avLst/>
          </a:prstGeom>
        </p:spPr>
      </p:pic>
      <p:sp>
        <p:nvSpPr>
          <p:cNvPr id="41" name="Text 35"/>
          <p:cNvSpPr txBox="1"/>
          <p:nvPr/>
        </p:nvSpPr>
        <p:spPr>
          <a:xfrm>
            <a:off x="6583680" y="3822192"/>
            <a:ext cx="2011680" cy="731520"/>
          </a:xfrm>
          <a:prstGeom prst="rect">
            <a:avLst/>
          </a:prstGeom>
          <a:noFill/>
          <a:ln/>
        </p:spPr>
        <p:txBody>
          <a:bodyPr wrap="square" lIns="0" tIns="0" rIns="0" bIns="0" rtlCol="0" anchor="t"/>
          <a:lstStyle/>
          <a:p>
            <a:pPr indent="0" marL="0">
              <a:buNone/>
            </a:pPr>
            <a:r>
              <a:rPr lang="en-US" sz="1400" dirty="0">
                <a:solidFill>
                  <a:schemeClr val="tx1"/>
                </a:solidFill>
              </a:rPr>
              <a:t>No internet needed after installation</a:t>
            </a:r>
            <a:endParaRPr lang="en-US" sz="1400" dirty="0"/>
          </a:p>
        </p:txBody>
      </p:sp>
      <p:sp>
        <p:nvSpPr>
          <p:cNvPr id="25" name="Slide Number Placeholder 0"/>
          <p:cNvSpPr>
            <a:spLocks noGrp="1"/>
          </p:cNvSpPr>
          <p:nvPr>
            <p:ph type="sldNum" sz="quarter" idx="4294967295"/>
          </p:nvPr>
        </p:nvSpPr>
        <p:spPr>
          <a:xfrm>
            <a:off x="8138160" y="4754880"/>
            <a:ext cx="457200" cy="219456"/>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046720" cy="274320"/>
          </a:xfrm>
          <a:prstGeom prst="rect">
            <a:avLst/>
          </a:prstGeom>
          <a:noFill/>
          <a:ln/>
        </p:spPr>
        <p:txBody>
          <a:bodyPr wrap="square" lIns="0" tIns="0" rIns="0" bIns="0" rtlCol="0" anchor="t"/>
          <a:lstStyle/>
          <a:p>
            <a:pPr algn="l" indent="0" marL="0">
              <a:buNone/>
            </a:pPr>
            <a:r>
              <a:rPr lang="en-US" sz="1200" b="1" spc="150" kern="0" dirty="0">
                <a:solidFill>
                  <a:schemeClr val="accent3"/>
                </a:solidFill>
              </a:rPr>
              <a:t>THE SYSTEM</a:t>
            </a:r>
            <a:endParaRPr lang="en-US" sz="1200" dirty="0"/>
          </a:p>
        </p:txBody>
      </p:sp>
      <p:sp>
        <p:nvSpPr>
          <p:cNvPr id="3" name="Text 0"/>
          <p:cNvSpPr/>
          <p:nvPr>
            <p:ph idx="101" type="title" hasCustomPrompt="1"/>
          </p:nvPr>
        </p:nvSpPr>
        <p:spPr>
          <a:xfrm>
            <a:off x="548640" y="585216"/>
            <a:ext cx="8046720" cy="658368"/>
          </a:xfrm>
          <a:prstGeom prst="rect">
            <a:avLst/>
          </a:prstGeom>
          <a:noFill/>
          <a:ln/>
        </p:spPr>
        <p:txBody>
          <a:bodyPr wrap="square" lIns="0" tIns="0" rIns="0" bIns="0" rtlCol="0" anchor="t"/>
          <a:lstStyle/>
          <a:p>
            <a:pPr algn="l" indent="0" marL="0">
              <a:buNone/>
            </a:pPr>
            <a:r>
              <a:rPr lang="en-US" sz="3200" b="1" dirty="0">
                <a:solidFill>
                  <a:schemeClr val="tx1"/>
                </a:solidFill>
              </a:rPr>
              <a:t>What students and staff see</a:t>
            </a:r>
            <a:endParaRPr lang="en-US" sz="3200" dirty="0"/>
          </a:p>
        </p:txBody>
      </p:sp>
      <p:pic>
        <p:nvPicPr>
          <p:cNvPr id="4" name="Answer screenshot" descr="Chat answers to a Pidgin and a misspelt question, with sources">    </p:cNvPr>
          <p:cNvPicPr>
            <a:picLocks noChangeAspect="1"/>
          </p:cNvPicPr>
          <p:nvPr/>
        </p:nvPicPr>
        <p:blipFill>
          <a:blip r:embed="rId1"/>
          <a:stretch>
            <a:fillRect/>
          </a:stretch>
        </p:blipFill>
        <p:spPr>
          <a:xfrm>
            <a:off x="548640" y="1417320"/>
            <a:ext cx="4754880" cy="2971800"/>
          </a:xfrm>
          <a:prstGeom prst="rect">
            <a:avLst/>
          </a:prstGeom>
        </p:spPr>
      </p:pic>
      <p:sp>
        <p:nvSpPr>
          <p:cNvPr id="5" name="Text 2"/>
          <p:cNvSpPr txBox="1"/>
          <p:nvPr/>
        </p:nvSpPr>
        <p:spPr>
          <a:xfrm>
            <a:off x="548640" y="4425696"/>
            <a:ext cx="4754880" cy="274320"/>
          </a:xfrm>
          <a:prstGeom prst="rect">
            <a:avLst/>
          </a:prstGeom>
          <a:noFill/>
          <a:ln/>
        </p:spPr>
        <p:txBody>
          <a:bodyPr wrap="square" lIns="0" tIns="0" rIns="0" bIns="0" rtlCol="0" anchor="t"/>
          <a:lstStyle/>
          <a:p>
            <a:pPr indent="0" marL="0">
              <a:buNone/>
            </a:pPr>
            <a:r>
              <a:rPr lang="en-US" sz="1200" dirty="0">
                <a:solidFill>
                  <a:schemeClr val="tx2"/>
                </a:solidFill>
              </a:rPr>
              <a:t>Answers to a Pidgin and a misspelt question, each with its official source</a:t>
            </a:r>
            <a:endParaRPr lang="en-US" sz="1200" dirty="0"/>
          </a:p>
        </p:txBody>
      </p:sp>
      <p:pic>
        <p:nvPicPr>
          <p:cNvPr id="6" name="Fallback screenshot" descr="Fallback naming the office to contact">    </p:cNvPr>
          <p:cNvPicPr>
            <a:picLocks noChangeAspect="1"/>
          </p:cNvPicPr>
          <p:nvPr/>
        </p:nvPicPr>
        <p:blipFill>
          <a:blip r:embed="rId2"/>
          <a:stretch>
            <a:fillRect/>
          </a:stretch>
        </p:blipFill>
        <p:spPr>
          <a:xfrm>
            <a:off x="5532120" y="1417320"/>
            <a:ext cx="3063240" cy="1300661"/>
          </a:xfrm>
          <a:prstGeom prst="rect">
            <a:avLst/>
          </a:prstGeom>
        </p:spPr>
      </p:pic>
      <p:sp>
        <p:nvSpPr>
          <p:cNvPr id="7" name="Text 3"/>
          <p:cNvSpPr txBox="1"/>
          <p:nvPr/>
        </p:nvSpPr>
        <p:spPr>
          <a:xfrm>
            <a:off x="5532120" y="2743200"/>
            <a:ext cx="3063240" cy="411480"/>
          </a:xfrm>
          <a:prstGeom prst="rect">
            <a:avLst/>
          </a:prstGeom>
          <a:noFill/>
          <a:ln/>
        </p:spPr>
        <p:txBody>
          <a:bodyPr wrap="square" lIns="0" tIns="0" rIns="0" bIns="0" rtlCol="0" anchor="t"/>
          <a:lstStyle/>
          <a:p>
            <a:pPr indent="0" marL="0">
              <a:buNone/>
            </a:pPr>
            <a:r>
              <a:rPr lang="en-US" sz="1200" dirty="0">
                <a:solidFill>
                  <a:schemeClr val="tx2"/>
                </a:solidFill>
              </a:rPr>
              <a:t>No answer yet: the bot names the office and saves the question</a:t>
            </a:r>
            <a:endParaRPr lang="en-US" sz="1200" dirty="0"/>
          </a:p>
        </p:txBody>
      </p:sp>
      <p:pic>
        <p:nvPicPr>
          <p:cNvPr id="8" name="Unanswered screenshot" descr="Admin Unanswered page">    </p:cNvPr>
          <p:cNvPicPr>
            <a:picLocks noChangeAspect="1"/>
          </p:cNvPicPr>
          <p:nvPr/>
        </p:nvPicPr>
        <p:blipFill>
          <a:blip r:embed="rId3"/>
          <a:stretch>
            <a:fillRect/>
          </a:stretch>
        </p:blipFill>
        <p:spPr>
          <a:xfrm>
            <a:off x="5532120" y="3246120"/>
            <a:ext cx="3063240" cy="1063880"/>
          </a:xfrm>
          <a:prstGeom prst="rect">
            <a:avLst/>
          </a:prstGeom>
        </p:spPr>
      </p:pic>
      <p:sp>
        <p:nvSpPr>
          <p:cNvPr id="9" name="Text 4"/>
          <p:cNvSpPr txBox="1"/>
          <p:nvPr/>
        </p:nvSpPr>
        <p:spPr>
          <a:xfrm>
            <a:off x="5532120" y="4352544"/>
            <a:ext cx="3063240" cy="274320"/>
          </a:xfrm>
          <a:prstGeom prst="rect">
            <a:avLst/>
          </a:prstGeom>
          <a:noFill/>
          <a:ln/>
        </p:spPr>
        <p:txBody>
          <a:bodyPr wrap="square" lIns="0" tIns="0" rIns="0" bIns="0" rtlCol="0" anchor="t"/>
          <a:lstStyle/>
          <a:p>
            <a:pPr indent="0" marL="0">
              <a:buNone/>
            </a:pPr>
            <a:r>
              <a:rPr lang="en-US" sz="1200" dirty="0">
                <a:solidFill>
                  <a:schemeClr val="tx2"/>
                </a:solidFill>
              </a:rPr>
              <a:t>Admin turns saved questions into answers</a:t>
            </a:r>
            <a:endParaRPr lang="en-US" sz="1200" dirty="0"/>
          </a:p>
        </p:txBody>
      </p:sp>
      <p:sp>
        <p:nvSpPr>
          <p:cNvPr id="25" name="Slide Number Placeholder 0"/>
          <p:cNvSpPr>
            <a:spLocks noGrp="1"/>
          </p:cNvSpPr>
          <p:nvPr>
            <p:ph type="sldNum" sz="quarter" idx="4294967295"/>
          </p:nvPr>
        </p:nvSpPr>
        <p:spPr>
          <a:xfrm>
            <a:off x="8138160" y="4754880"/>
            <a:ext cx="457200" cy="219456"/>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046720" cy="274320"/>
          </a:xfrm>
          <a:prstGeom prst="rect">
            <a:avLst/>
          </a:prstGeom>
          <a:noFill/>
          <a:ln/>
        </p:spPr>
        <p:txBody>
          <a:bodyPr wrap="square" lIns="0" tIns="0" rIns="0" bIns="0" rtlCol="0" anchor="t"/>
          <a:lstStyle/>
          <a:p>
            <a:pPr algn="l" indent="0" marL="0">
              <a:buNone/>
            </a:pPr>
            <a:r>
              <a:rPr lang="en-US" sz="1200" b="1" spc="150" kern="0" dirty="0">
                <a:solidFill>
                  <a:schemeClr val="accent3"/>
                </a:solidFill>
              </a:rPr>
              <a:t>RESULTS ON 30 HELD-OUT QUESTIONS</a:t>
            </a:r>
            <a:endParaRPr lang="en-US" sz="1200" dirty="0"/>
          </a:p>
        </p:txBody>
      </p:sp>
      <p:sp>
        <p:nvSpPr>
          <p:cNvPr id="3" name="Text 0"/>
          <p:cNvSpPr/>
          <p:nvPr>
            <p:ph idx="101" type="title" hasCustomPrompt="1"/>
          </p:nvPr>
        </p:nvSpPr>
        <p:spPr>
          <a:xfrm>
            <a:off x="548640" y="585216"/>
            <a:ext cx="8046720" cy="658368"/>
          </a:xfrm>
          <a:prstGeom prst="rect">
            <a:avLst/>
          </a:prstGeom>
          <a:noFill/>
          <a:ln/>
        </p:spPr>
        <p:txBody>
          <a:bodyPr wrap="square" lIns="0" tIns="0" rIns="0" bIns="0" rtlCol="0" anchor="t"/>
          <a:lstStyle/>
          <a:p>
            <a:pPr algn="l" indent="0" marL="0">
              <a:buNone/>
            </a:pPr>
            <a:r>
              <a:rPr lang="en-US" sz="3200" b="1" dirty="0">
                <a:solidFill>
                  <a:schemeClr val="tx1"/>
                </a:solidFill>
              </a:rPr>
              <a:t>29 of 30 test questions correct</a:t>
            </a:r>
            <a:endParaRPr lang="en-US" sz="3200" dirty="0"/>
          </a:p>
        </p:txBody>
      </p:sp>
      <p:sp>
        <p:nvSpPr>
          <p:cNvPr id="4" name="accuracy card"/>
          <p:cNvSpPr/>
          <p:nvPr/>
        </p:nvSpPr>
        <p:spPr>
          <a:xfrm>
            <a:off x="548640" y="1417320"/>
            <a:ext cx="1920240" cy="1499616"/>
          </a:xfrm>
          <a:prstGeom prst="roundRect">
            <a:avLst>
              <a:gd name="adj" fmla="val 8537"/>
            </a:avLst>
          </a:prstGeom>
          <a:solidFill>
            <a:schemeClr val="bg1"/>
          </a:solidFill>
          <a:ln w="9525">
            <a:solidFill>
              <a:schemeClr val="accent5"/>
            </a:solidFill>
            <a:prstDash val="solid"/>
          </a:ln>
        </p:spPr>
      </p:sp>
      <p:sp>
        <p:nvSpPr>
          <p:cNvPr id="5" name="Text 3"/>
          <p:cNvSpPr txBox="1"/>
          <p:nvPr/>
        </p:nvSpPr>
        <p:spPr>
          <a:xfrm>
            <a:off x="749808" y="1600200"/>
            <a:ext cx="1600200" cy="566928"/>
          </a:xfrm>
          <a:prstGeom prst="rect">
            <a:avLst/>
          </a:prstGeom>
          <a:noFill/>
          <a:ln/>
        </p:spPr>
        <p:txBody>
          <a:bodyPr wrap="square" lIns="0" tIns="0" rIns="0" bIns="0" rtlCol="0" anchor="t"/>
          <a:lstStyle/>
          <a:p>
            <a:pPr indent="0" marL="0">
              <a:buNone/>
            </a:pPr>
            <a:r>
              <a:rPr lang="en-US" sz="3200" b="1" dirty="0">
                <a:solidFill>
                  <a:schemeClr val="accent1"/>
                </a:solidFill>
              </a:rPr>
              <a:t>96.7%</a:t>
            </a:r>
            <a:endParaRPr lang="en-US" sz="3200" dirty="0"/>
          </a:p>
        </p:txBody>
      </p:sp>
      <p:sp>
        <p:nvSpPr>
          <p:cNvPr id="6" name="Text 4"/>
          <p:cNvSpPr txBox="1"/>
          <p:nvPr/>
        </p:nvSpPr>
        <p:spPr>
          <a:xfrm>
            <a:off x="749808" y="2185416"/>
            <a:ext cx="1600200" cy="274320"/>
          </a:xfrm>
          <a:prstGeom prst="rect">
            <a:avLst/>
          </a:prstGeom>
          <a:noFill/>
          <a:ln/>
        </p:spPr>
        <p:txBody>
          <a:bodyPr wrap="square" lIns="0" tIns="0" rIns="0" bIns="0" rtlCol="0" anchor="t"/>
          <a:lstStyle/>
          <a:p>
            <a:pPr indent="0" marL="0">
              <a:buNone/>
            </a:pPr>
            <a:r>
              <a:rPr lang="en-US" sz="1400" b="1" dirty="0">
                <a:solidFill>
                  <a:schemeClr val="tx1"/>
                </a:solidFill>
              </a:rPr>
              <a:t>accuracy</a:t>
            </a:r>
            <a:endParaRPr lang="en-US" sz="1400" dirty="0"/>
          </a:p>
        </p:txBody>
      </p:sp>
      <p:sp>
        <p:nvSpPr>
          <p:cNvPr id="7" name="Text 5"/>
          <p:cNvSpPr txBox="1"/>
          <p:nvPr/>
        </p:nvSpPr>
        <p:spPr>
          <a:xfrm>
            <a:off x="749808" y="2450592"/>
            <a:ext cx="1600200" cy="365760"/>
          </a:xfrm>
          <a:prstGeom prst="rect">
            <a:avLst/>
          </a:prstGeom>
          <a:noFill/>
          <a:ln/>
        </p:spPr>
        <p:txBody>
          <a:bodyPr wrap="square" lIns="0" tIns="0" rIns="0" bIns="0" rtlCol="0" anchor="t"/>
          <a:lstStyle/>
          <a:p>
            <a:pPr indent="0" marL="0">
              <a:buNone/>
            </a:pPr>
            <a:r>
              <a:rPr lang="en-US" sz="1100" dirty="0">
                <a:solidFill>
                  <a:schemeClr val="tx2"/>
                </a:solidFill>
              </a:rPr>
              <a:t>29 of 30 handled correctly</a:t>
            </a:r>
            <a:endParaRPr lang="en-US" sz="1100" dirty="0"/>
          </a:p>
        </p:txBody>
      </p:sp>
      <p:sp>
        <p:nvSpPr>
          <p:cNvPr id="8" name="precision card"/>
          <p:cNvSpPr/>
          <p:nvPr/>
        </p:nvSpPr>
        <p:spPr>
          <a:xfrm>
            <a:off x="2606040" y="1417320"/>
            <a:ext cx="1920240" cy="1499616"/>
          </a:xfrm>
          <a:prstGeom prst="roundRect">
            <a:avLst>
              <a:gd name="adj" fmla="val 8537"/>
            </a:avLst>
          </a:prstGeom>
          <a:solidFill>
            <a:schemeClr val="bg1"/>
          </a:solidFill>
          <a:ln w="9525">
            <a:solidFill>
              <a:schemeClr val="accent5"/>
            </a:solidFill>
            <a:prstDash val="solid"/>
          </a:ln>
        </p:spPr>
      </p:sp>
      <p:sp>
        <p:nvSpPr>
          <p:cNvPr id="9" name="Text 7"/>
          <p:cNvSpPr txBox="1"/>
          <p:nvPr/>
        </p:nvSpPr>
        <p:spPr>
          <a:xfrm>
            <a:off x="2807208" y="1600200"/>
            <a:ext cx="1600200" cy="566928"/>
          </a:xfrm>
          <a:prstGeom prst="rect">
            <a:avLst/>
          </a:prstGeom>
          <a:noFill/>
          <a:ln/>
        </p:spPr>
        <p:txBody>
          <a:bodyPr wrap="square" lIns="0" tIns="0" rIns="0" bIns="0" rtlCol="0" anchor="t"/>
          <a:lstStyle/>
          <a:p>
            <a:pPr indent="0" marL="0">
              <a:buNone/>
            </a:pPr>
            <a:r>
              <a:rPr lang="en-US" sz="3200" b="1" dirty="0">
                <a:solidFill>
                  <a:schemeClr val="accent1"/>
                </a:solidFill>
              </a:rPr>
              <a:t>100%</a:t>
            </a:r>
            <a:endParaRPr lang="en-US" sz="3200" dirty="0"/>
          </a:p>
        </p:txBody>
      </p:sp>
      <p:sp>
        <p:nvSpPr>
          <p:cNvPr id="10" name="Text 8"/>
          <p:cNvSpPr txBox="1"/>
          <p:nvPr/>
        </p:nvSpPr>
        <p:spPr>
          <a:xfrm>
            <a:off x="2807208" y="2185416"/>
            <a:ext cx="1600200" cy="274320"/>
          </a:xfrm>
          <a:prstGeom prst="rect">
            <a:avLst/>
          </a:prstGeom>
          <a:noFill/>
          <a:ln/>
        </p:spPr>
        <p:txBody>
          <a:bodyPr wrap="square" lIns="0" tIns="0" rIns="0" bIns="0" rtlCol="0" anchor="t"/>
          <a:lstStyle/>
          <a:p>
            <a:pPr indent="0" marL="0">
              <a:buNone/>
            </a:pPr>
            <a:r>
              <a:rPr lang="en-US" sz="1400" b="1" dirty="0">
                <a:solidFill>
                  <a:schemeClr val="tx1"/>
                </a:solidFill>
              </a:rPr>
              <a:t>precision</a:t>
            </a:r>
            <a:endParaRPr lang="en-US" sz="1400" dirty="0"/>
          </a:p>
        </p:txBody>
      </p:sp>
      <p:sp>
        <p:nvSpPr>
          <p:cNvPr id="11" name="Text 9"/>
          <p:cNvSpPr txBox="1"/>
          <p:nvPr/>
        </p:nvSpPr>
        <p:spPr>
          <a:xfrm>
            <a:off x="2807208" y="2450592"/>
            <a:ext cx="1600200" cy="365760"/>
          </a:xfrm>
          <a:prstGeom prst="rect">
            <a:avLst/>
          </a:prstGeom>
          <a:noFill/>
          <a:ln/>
        </p:spPr>
        <p:txBody>
          <a:bodyPr wrap="square" lIns="0" tIns="0" rIns="0" bIns="0" rtlCol="0" anchor="t"/>
          <a:lstStyle/>
          <a:p>
            <a:pPr indent="0" marL="0">
              <a:buNone/>
            </a:pPr>
            <a:r>
              <a:rPr lang="en-US" sz="1100" dirty="0">
                <a:solidFill>
                  <a:schemeClr val="tx2"/>
                </a:solidFill>
              </a:rPr>
              <a:t>no wrong answers given</a:t>
            </a:r>
            <a:endParaRPr lang="en-US" sz="1100" dirty="0"/>
          </a:p>
        </p:txBody>
      </p:sp>
      <p:sp>
        <p:nvSpPr>
          <p:cNvPr id="12" name="recall card"/>
          <p:cNvSpPr/>
          <p:nvPr/>
        </p:nvSpPr>
        <p:spPr>
          <a:xfrm>
            <a:off x="548640" y="3044952"/>
            <a:ext cx="1920240" cy="1499616"/>
          </a:xfrm>
          <a:prstGeom prst="roundRect">
            <a:avLst>
              <a:gd name="adj" fmla="val 8537"/>
            </a:avLst>
          </a:prstGeom>
          <a:solidFill>
            <a:schemeClr val="bg1"/>
          </a:solidFill>
          <a:ln w="9525">
            <a:solidFill>
              <a:schemeClr val="accent5"/>
            </a:solidFill>
            <a:prstDash val="solid"/>
          </a:ln>
        </p:spPr>
      </p:sp>
      <p:sp>
        <p:nvSpPr>
          <p:cNvPr id="13" name="Text 11"/>
          <p:cNvSpPr txBox="1"/>
          <p:nvPr/>
        </p:nvSpPr>
        <p:spPr>
          <a:xfrm>
            <a:off x="749808" y="3227832"/>
            <a:ext cx="1600200" cy="566928"/>
          </a:xfrm>
          <a:prstGeom prst="rect">
            <a:avLst/>
          </a:prstGeom>
          <a:noFill/>
          <a:ln/>
        </p:spPr>
        <p:txBody>
          <a:bodyPr wrap="square" lIns="0" tIns="0" rIns="0" bIns="0" rtlCol="0" anchor="t"/>
          <a:lstStyle/>
          <a:p>
            <a:pPr indent="0" marL="0">
              <a:buNone/>
            </a:pPr>
            <a:r>
              <a:rPr lang="en-US" sz="3200" b="1" dirty="0">
                <a:solidFill>
                  <a:schemeClr val="accent1"/>
                </a:solidFill>
              </a:rPr>
              <a:t>96.0%</a:t>
            </a:r>
            <a:endParaRPr lang="en-US" sz="3200" dirty="0"/>
          </a:p>
        </p:txBody>
      </p:sp>
      <p:sp>
        <p:nvSpPr>
          <p:cNvPr id="14" name="Text 12"/>
          <p:cNvSpPr txBox="1"/>
          <p:nvPr/>
        </p:nvSpPr>
        <p:spPr>
          <a:xfrm>
            <a:off x="749808" y="3813048"/>
            <a:ext cx="1600200" cy="274320"/>
          </a:xfrm>
          <a:prstGeom prst="rect">
            <a:avLst/>
          </a:prstGeom>
          <a:noFill/>
          <a:ln/>
        </p:spPr>
        <p:txBody>
          <a:bodyPr wrap="square" lIns="0" tIns="0" rIns="0" bIns="0" rtlCol="0" anchor="t"/>
          <a:lstStyle/>
          <a:p>
            <a:pPr indent="0" marL="0">
              <a:buNone/>
            </a:pPr>
            <a:r>
              <a:rPr lang="en-US" sz="1400" b="1" dirty="0">
                <a:solidFill>
                  <a:schemeClr val="tx1"/>
                </a:solidFill>
              </a:rPr>
              <a:t>recall</a:t>
            </a:r>
            <a:endParaRPr lang="en-US" sz="1400" dirty="0"/>
          </a:p>
        </p:txBody>
      </p:sp>
      <p:sp>
        <p:nvSpPr>
          <p:cNvPr id="15" name="Text 13"/>
          <p:cNvSpPr txBox="1"/>
          <p:nvPr/>
        </p:nvSpPr>
        <p:spPr>
          <a:xfrm>
            <a:off x="749808" y="4078224"/>
            <a:ext cx="1600200" cy="365760"/>
          </a:xfrm>
          <a:prstGeom prst="rect">
            <a:avLst/>
          </a:prstGeom>
          <a:noFill/>
          <a:ln/>
        </p:spPr>
        <p:txBody>
          <a:bodyPr wrap="square" lIns="0" tIns="0" rIns="0" bIns="0" rtlCol="0" anchor="t"/>
          <a:lstStyle/>
          <a:p>
            <a:pPr indent="0" marL="0">
              <a:buNone/>
            </a:pPr>
            <a:r>
              <a:rPr lang="en-US" sz="1100" dirty="0">
                <a:solidFill>
                  <a:schemeClr val="tx2"/>
                </a:solidFill>
              </a:rPr>
              <a:t>24 of 25 in-scope answered</a:t>
            </a:r>
            <a:endParaRPr lang="en-US" sz="1100" dirty="0"/>
          </a:p>
        </p:txBody>
      </p:sp>
      <p:sp>
        <p:nvSpPr>
          <p:cNvPr id="16" name="median reply card"/>
          <p:cNvSpPr/>
          <p:nvPr/>
        </p:nvSpPr>
        <p:spPr>
          <a:xfrm>
            <a:off x="2606040" y="3044952"/>
            <a:ext cx="1920240" cy="1499616"/>
          </a:xfrm>
          <a:prstGeom prst="roundRect">
            <a:avLst>
              <a:gd name="adj" fmla="val 8537"/>
            </a:avLst>
          </a:prstGeom>
          <a:solidFill>
            <a:schemeClr val="bg1"/>
          </a:solidFill>
          <a:ln w="9525">
            <a:solidFill>
              <a:schemeClr val="accent5"/>
            </a:solidFill>
            <a:prstDash val="solid"/>
          </a:ln>
        </p:spPr>
      </p:sp>
      <p:sp>
        <p:nvSpPr>
          <p:cNvPr id="17" name="Text 15"/>
          <p:cNvSpPr txBox="1"/>
          <p:nvPr/>
        </p:nvSpPr>
        <p:spPr>
          <a:xfrm>
            <a:off x="2807208" y="3227832"/>
            <a:ext cx="1600200" cy="566928"/>
          </a:xfrm>
          <a:prstGeom prst="rect">
            <a:avLst/>
          </a:prstGeom>
          <a:noFill/>
          <a:ln/>
        </p:spPr>
        <p:txBody>
          <a:bodyPr wrap="square" lIns="0" tIns="0" rIns="0" bIns="0" rtlCol="0" anchor="t"/>
          <a:lstStyle/>
          <a:p>
            <a:pPr indent="0" marL="0">
              <a:buNone/>
            </a:pPr>
            <a:r>
              <a:rPr lang="en-US" sz="3200" b="1" dirty="0">
                <a:solidFill>
                  <a:schemeClr val="accent1"/>
                </a:solidFill>
              </a:rPr>
              <a:t>3.6 ms</a:t>
            </a:r>
            <a:endParaRPr lang="en-US" sz="3200" dirty="0"/>
          </a:p>
        </p:txBody>
      </p:sp>
      <p:sp>
        <p:nvSpPr>
          <p:cNvPr id="18" name="Text 16"/>
          <p:cNvSpPr txBox="1"/>
          <p:nvPr/>
        </p:nvSpPr>
        <p:spPr>
          <a:xfrm>
            <a:off x="2807208" y="3813048"/>
            <a:ext cx="1600200" cy="274320"/>
          </a:xfrm>
          <a:prstGeom prst="rect">
            <a:avLst/>
          </a:prstGeom>
          <a:noFill/>
          <a:ln/>
        </p:spPr>
        <p:txBody>
          <a:bodyPr wrap="square" lIns="0" tIns="0" rIns="0" bIns="0" rtlCol="0" anchor="t"/>
          <a:lstStyle/>
          <a:p>
            <a:pPr indent="0" marL="0">
              <a:buNone/>
            </a:pPr>
            <a:r>
              <a:rPr lang="en-US" sz="1400" b="1" dirty="0">
                <a:solidFill>
                  <a:schemeClr val="tx1"/>
                </a:solidFill>
              </a:rPr>
              <a:t>median reply</a:t>
            </a:r>
            <a:endParaRPr lang="en-US" sz="1400" dirty="0"/>
          </a:p>
        </p:txBody>
      </p:sp>
      <p:sp>
        <p:nvSpPr>
          <p:cNvPr id="19" name="Text 17"/>
          <p:cNvSpPr txBox="1"/>
          <p:nvPr/>
        </p:nvSpPr>
        <p:spPr>
          <a:xfrm>
            <a:off x="2807208" y="4078224"/>
            <a:ext cx="1600200" cy="365760"/>
          </a:xfrm>
          <a:prstGeom prst="rect">
            <a:avLst/>
          </a:prstGeom>
          <a:noFill/>
          <a:ln/>
        </p:spPr>
        <p:txBody>
          <a:bodyPr wrap="square" lIns="0" tIns="0" rIns="0" bIns="0" rtlCol="0" anchor="t"/>
          <a:lstStyle/>
          <a:p>
            <a:pPr indent="0" marL="0">
              <a:buNone/>
            </a:pPr>
            <a:r>
              <a:rPr lang="en-US" sz="1100" dirty="0">
                <a:solidFill>
                  <a:schemeClr val="tx2"/>
                </a:solidFill>
              </a:rPr>
              <a:t>per request, incl. database</a:t>
            </a:r>
            <a:endParaRPr lang="en-US" sz="1100" dirty="0"/>
          </a:p>
        </p:txBody>
      </p:sp>
      <p:graphicFrame>
        <p:nvGraphicFramePr>
          <p:cNvPr id="20" name="Chart 0" descr=""/>
          <p:cNvGraphicFramePr/>
          <p:nvPr/>
        </p:nvGraphicFramePr>
        <p:xfrm>
          <a:off x="4846320" y="1417320"/>
          <a:ext cx="3749040" cy="2743200"/>
        </p:xfrm>
        <a:graphic xmlns:a="http://schemas.openxmlformats.org/drawingml/2006/main">
          <a:graphicData uri="http://schemas.openxmlformats.org/drawingml/2006/chart">
            <c:chart xmlns:c="http://schemas.openxmlformats.org/drawingml/2006/chart" r:id="rId1"/>
          </a:graphicData>
        </a:graphic>
      </p:graphicFrame>
      <p:sp>
        <p:nvSpPr>
          <p:cNvPr id="21" name="Text 18"/>
          <p:cNvSpPr txBox="1"/>
          <p:nvPr/>
        </p:nvSpPr>
        <p:spPr>
          <a:xfrm>
            <a:off x="4846320" y="4206240"/>
            <a:ext cx="3749040" cy="411480"/>
          </a:xfrm>
          <a:prstGeom prst="rect">
            <a:avLst/>
          </a:prstGeom>
          <a:noFill/>
          <a:ln/>
        </p:spPr>
        <p:txBody>
          <a:bodyPr wrap="square" lIns="0" tIns="0" rIns="0" bIns="0" rtlCol="0" anchor="t"/>
          <a:lstStyle/>
          <a:p>
            <a:pPr indent="0" marL="0">
              <a:buNone/>
            </a:pPr>
            <a:r>
              <a:rPr lang="en-US" sz="1200" dirty="0">
                <a:solidFill>
                  <a:schemeClr val="tx2"/>
                </a:solidFill>
              </a:rPr>
              <a:t>Questions per bar, left to right: 16, 4, 3, 2 and 5.</a:t>
            </a:r>
            <a:endParaRPr lang="en-US" sz="1200" dirty="0"/>
          </a:p>
        </p:txBody>
      </p:sp>
      <p:sp>
        <p:nvSpPr>
          <p:cNvPr id="25" name="Slide Number Placeholder 0"/>
          <p:cNvSpPr>
            <a:spLocks noGrp="1"/>
          </p:cNvSpPr>
          <p:nvPr>
            <p:ph type="sldNum" sz="quarter" idx="4294967295"/>
          </p:nvPr>
        </p:nvSpPr>
        <p:spPr>
          <a:xfrm>
            <a:off x="8138160" y="4754880"/>
            <a:ext cx="457200" cy="219456"/>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8046720" cy="658368"/>
          </a:xfrm>
          <a:prstGeom prst="rect">
            <a:avLst/>
          </a:prstGeom>
          <a:noFill/>
          <a:ln/>
        </p:spPr>
        <p:txBody>
          <a:bodyPr wrap="square" lIns="0" tIns="0" rIns="0" bIns="0" rtlCol="0" anchor="t"/>
          <a:lstStyle/>
          <a:p>
            <a:pPr algn="l" indent="0" marL="0">
              <a:buNone/>
            </a:pPr>
            <a:r>
              <a:rPr lang="en-US" sz="3200" b="1" dirty="0">
                <a:solidFill>
                  <a:schemeClr val="bg1"/>
                </a:solidFill>
              </a:rPr>
              <a:t>Conclusion and next steps</a:t>
            </a:r>
            <a:endParaRPr lang="en-US" sz="3200" dirty="0"/>
          </a:p>
        </p:txBody>
      </p:sp>
      <p:sp>
        <p:nvSpPr>
          <p:cNvPr id="3" name="Contribution card"/>
          <p:cNvSpPr/>
          <p:nvPr/>
        </p:nvSpPr>
        <p:spPr>
          <a:xfrm>
            <a:off x="548640" y="1325880"/>
            <a:ext cx="2560320" cy="2697480"/>
          </a:xfrm>
          <a:prstGeom prst="roundRect">
            <a:avLst>
              <a:gd name="adj" fmla="val 5000"/>
            </a:avLst>
          </a:prstGeom>
          <a:solidFill>
            <a:srgbClr val="AD3F18"/>
          </a:solidFill>
          <a:ln/>
        </p:spPr>
      </p:sp>
      <p:pic>
        <p:nvPicPr>
          <p:cNvPr id="4" name="Image 0" descr="Lightbulb icon">    </p:cNvPr>
          <p:cNvPicPr>
            <a:picLocks noChangeAspect="1"/>
          </p:cNvPicPr>
          <p:nvPr/>
        </p:nvPicPr>
        <p:blipFill>
          <a:blip r:embed="rId1"/>
          <a:stretch>
            <a:fillRect/>
          </a:stretch>
        </p:blipFill>
        <p:spPr>
          <a:xfrm>
            <a:off x="777240" y="1536192"/>
            <a:ext cx="365760" cy="365760"/>
          </a:xfrm>
          <a:prstGeom prst="rect">
            <a:avLst/>
          </a:prstGeom>
        </p:spPr>
      </p:pic>
      <p:sp>
        <p:nvSpPr>
          <p:cNvPr id="5" name="Text 2"/>
          <p:cNvSpPr txBox="1"/>
          <p:nvPr/>
        </p:nvSpPr>
        <p:spPr>
          <a:xfrm>
            <a:off x="777240" y="1993392"/>
            <a:ext cx="2148840" cy="329184"/>
          </a:xfrm>
          <a:prstGeom prst="rect">
            <a:avLst/>
          </a:prstGeom>
          <a:noFill/>
          <a:ln/>
        </p:spPr>
        <p:txBody>
          <a:bodyPr wrap="square" lIns="0" tIns="0" rIns="0" bIns="0" rtlCol="0" anchor="t"/>
          <a:lstStyle/>
          <a:p>
            <a:pPr indent="0" marL="0">
              <a:buNone/>
            </a:pPr>
            <a:r>
              <a:rPr lang="en-US" sz="1800" b="1" dirty="0">
                <a:solidFill>
                  <a:schemeClr val="bg1"/>
                </a:solidFill>
              </a:rPr>
              <a:t>Contribution</a:t>
            </a:r>
            <a:endParaRPr lang="en-US" sz="1800" dirty="0"/>
          </a:p>
        </p:txBody>
      </p:sp>
      <p:sp>
        <p:nvSpPr>
          <p:cNvPr id="6" name="Text 3"/>
          <p:cNvSpPr txBox="1"/>
          <p:nvPr/>
        </p:nvSpPr>
        <p:spPr>
          <a:xfrm>
            <a:off x="777240" y="2377440"/>
            <a:ext cx="2194560" cy="155448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bg1"/>
                </a:solidFill>
              </a:rPr>
              <a:t>Pidgin and abbreviation rule table</a:t>
            </a:r>
            <a:endParaRPr lang="en-US" sz="1400" dirty="0"/>
          </a:p>
          <a:p>
            <a:pPr marL="177800" indent="-177800">
              <a:spcAft>
                <a:spcPts val="500"/>
              </a:spcAft>
              <a:buSzPct val="100000"/>
              <a:buChar char="•"/>
            </a:pPr>
            <a:r>
              <a:rPr lang="en-US" sz="1400" dirty="0">
                <a:solidFill>
                  <a:schemeClr val="bg1"/>
                </a:solidFill>
              </a:rPr>
              <a:t>Offline retrieval chatbot with office referral</a:t>
            </a:r>
            <a:endParaRPr lang="en-US" sz="1400" dirty="0"/>
          </a:p>
          <a:p>
            <a:pPr marL="177800" indent="-177800">
              <a:spcAft>
                <a:spcPts val="500"/>
              </a:spcAft>
              <a:buSzPct val="100000"/>
              <a:buChar char="•"/>
            </a:pPr>
            <a:r>
              <a:rPr lang="en-US" sz="1400" dirty="0">
                <a:solidFill>
                  <a:schemeClr val="bg1"/>
                </a:solidFill>
              </a:rPr>
              <a:t>EBSU test set with results</a:t>
            </a:r>
            <a:endParaRPr lang="en-US" sz="1400" dirty="0"/>
          </a:p>
        </p:txBody>
      </p:sp>
      <p:sp>
        <p:nvSpPr>
          <p:cNvPr id="7" name="Recommendations card"/>
          <p:cNvSpPr/>
          <p:nvPr/>
        </p:nvSpPr>
        <p:spPr>
          <a:xfrm>
            <a:off x="3291840" y="1325880"/>
            <a:ext cx="2560320" cy="2697480"/>
          </a:xfrm>
          <a:prstGeom prst="roundRect">
            <a:avLst>
              <a:gd name="adj" fmla="val 5000"/>
            </a:avLst>
          </a:prstGeom>
          <a:solidFill>
            <a:srgbClr val="AD3F18"/>
          </a:solidFill>
          <a:ln/>
        </p:spPr>
      </p:sp>
      <p:pic>
        <p:nvPicPr>
          <p:cNvPr id="8" name="Image 1" descr="BuildingOffice icon">    </p:cNvPr>
          <p:cNvPicPr>
            <a:picLocks noChangeAspect="1"/>
          </p:cNvPicPr>
          <p:nvPr/>
        </p:nvPicPr>
        <p:blipFill>
          <a:blip r:embed="rId2"/>
          <a:stretch>
            <a:fillRect/>
          </a:stretch>
        </p:blipFill>
        <p:spPr>
          <a:xfrm>
            <a:off x="3520440" y="1536192"/>
            <a:ext cx="365760" cy="365760"/>
          </a:xfrm>
          <a:prstGeom prst="rect">
            <a:avLst/>
          </a:prstGeom>
        </p:spPr>
      </p:pic>
      <p:sp>
        <p:nvSpPr>
          <p:cNvPr id="9" name="Text 5"/>
          <p:cNvSpPr txBox="1"/>
          <p:nvPr/>
        </p:nvSpPr>
        <p:spPr>
          <a:xfrm>
            <a:off x="3520440" y="1993392"/>
            <a:ext cx="2148840" cy="329184"/>
          </a:xfrm>
          <a:prstGeom prst="rect">
            <a:avLst/>
          </a:prstGeom>
          <a:noFill/>
          <a:ln/>
        </p:spPr>
        <p:txBody>
          <a:bodyPr wrap="square" lIns="0" tIns="0" rIns="0" bIns="0" rtlCol="0" anchor="t"/>
          <a:lstStyle/>
          <a:p>
            <a:pPr indent="0" marL="0">
              <a:buNone/>
            </a:pPr>
            <a:r>
              <a:rPr lang="en-US" sz="1800" b="1" dirty="0">
                <a:solidFill>
                  <a:schemeClr val="bg1"/>
                </a:solidFill>
              </a:rPr>
              <a:t>Recommendations</a:t>
            </a:r>
            <a:endParaRPr lang="en-US" sz="1800" dirty="0"/>
          </a:p>
        </p:txBody>
      </p:sp>
      <p:sp>
        <p:nvSpPr>
          <p:cNvPr id="10" name="Text 6"/>
          <p:cNvSpPr txBox="1"/>
          <p:nvPr/>
        </p:nvSpPr>
        <p:spPr>
          <a:xfrm>
            <a:off x="3520440" y="2377440"/>
            <a:ext cx="2194560" cy="155448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bg1"/>
                </a:solidFill>
              </a:rPr>
              <a:t>Pilot in the next admission exercise</a:t>
            </a:r>
            <a:endParaRPr lang="en-US" sz="1400" dirty="0"/>
          </a:p>
          <a:p>
            <a:pPr marL="177800" indent="-177800">
              <a:spcAft>
                <a:spcPts val="500"/>
              </a:spcAft>
              <a:buSzPct val="100000"/>
              <a:buChar char="•"/>
            </a:pPr>
            <a:r>
              <a:rPr lang="en-US" sz="1400" dirty="0">
                <a:solidFill>
                  <a:schemeClr val="bg1"/>
                </a:solidFill>
              </a:rPr>
              <a:t>Each office keeps its answers current</a:t>
            </a:r>
            <a:endParaRPr lang="en-US" sz="1400" dirty="0"/>
          </a:p>
          <a:p>
            <a:pPr marL="177800" indent="-177800">
              <a:spcAft>
                <a:spcPts val="500"/>
              </a:spcAft>
              <a:buSzPct val="100000"/>
              <a:buChar char="•"/>
            </a:pPr>
            <a:r>
              <a:rPr lang="en-US" sz="1400" dirty="0">
                <a:solidFill>
                  <a:schemeClr val="bg1"/>
                </a:solidFill>
              </a:rPr>
              <a:t>Publish fees, hostels, registration</a:t>
            </a:r>
            <a:endParaRPr lang="en-US" sz="1400" dirty="0"/>
          </a:p>
        </p:txBody>
      </p:sp>
      <p:sp>
        <p:nvSpPr>
          <p:cNvPr id="11" name="Further work card"/>
          <p:cNvSpPr/>
          <p:nvPr/>
        </p:nvSpPr>
        <p:spPr>
          <a:xfrm>
            <a:off x="6035040" y="1325880"/>
            <a:ext cx="2560320" cy="2697480"/>
          </a:xfrm>
          <a:prstGeom prst="roundRect">
            <a:avLst>
              <a:gd name="adj" fmla="val 5000"/>
            </a:avLst>
          </a:prstGeom>
          <a:solidFill>
            <a:srgbClr val="AD3F18"/>
          </a:solidFill>
          <a:ln/>
        </p:spPr>
      </p:sp>
      <p:pic>
        <p:nvPicPr>
          <p:cNvPr id="12" name="Image 2" descr="Rocket icon">    </p:cNvPr>
          <p:cNvPicPr>
            <a:picLocks noChangeAspect="1"/>
          </p:cNvPicPr>
          <p:nvPr/>
        </p:nvPicPr>
        <p:blipFill>
          <a:blip r:embed="rId3"/>
          <a:stretch>
            <a:fillRect/>
          </a:stretch>
        </p:blipFill>
        <p:spPr>
          <a:xfrm>
            <a:off x="6263640" y="1536192"/>
            <a:ext cx="365760" cy="365760"/>
          </a:xfrm>
          <a:prstGeom prst="rect">
            <a:avLst/>
          </a:prstGeom>
        </p:spPr>
      </p:pic>
      <p:sp>
        <p:nvSpPr>
          <p:cNvPr id="13" name="Text 8"/>
          <p:cNvSpPr txBox="1"/>
          <p:nvPr/>
        </p:nvSpPr>
        <p:spPr>
          <a:xfrm>
            <a:off x="6263640" y="1993392"/>
            <a:ext cx="2148840" cy="329184"/>
          </a:xfrm>
          <a:prstGeom prst="rect">
            <a:avLst/>
          </a:prstGeom>
          <a:noFill/>
          <a:ln/>
        </p:spPr>
        <p:txBody>
          <a:bodyPr wrap="square" lIns="0" tIns="0" rIns="0" bIns="0" rtlCol="0" anchor="t"/>
          <a:lstStyle/>
          <a:p>
            <a:pPr indent="0" marL="0">
              <a:buNone/>
            </a:pPr>
            <a:r>
              <a:rPr lang="en-US" sz="1800" b="1" dirty="0">
                <a:solidFill>
                  <a:schemeClr val="bg1"/>
                </a:solidFill>
              </a:rPr>
              <a:t>Further work</a:t>
            </a:r>
            <a:endParaRPr lang="en-US" sz="1800" dirty="0"/>
          </a:p>
        </p:txBody>
      </p:sp>
      <p:sp>
        <p:nvSpPr>
          <p:cNvPr id="14" name="Text 9"/>
          <p:cNvSpPr txBox="1"/>
          <p:nvPr/>
        </p:nvSpPr>
        <p:spPr>
          <a:xfrm>
            <a:off x="6263640" y="2377440"/>
            <a:ext cx="2194560" cy="155448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bg1"/>
                </a:solidFill>
              </a:rPr>
              <a:t>Igbo questions</a:t>
            </a:r>
            <a:endParaRPr lang="en-US" sz="1400" dirty="0"/>
          </a:p>
          <a:p>
            <a:pPr marL="177800" indent="-177800">
              <a:spcAft>
                <a:spcPts val="500"/>
              </a:spcAft>
              <a:buSzPct val="100000"/>
              <a:buChar char="•"/>
            </a:pPr>
            <a:r>
              <a:rPr lang="en-US" sz="1400" dirty="0">
                <a:solidFill>
                  <a:schemeClr val="bg1"/>
                </a:solidFill>
              </a:rPr>
              <a:t>Meaning-based matching, run locally</a:t>
            </a:r>
            <a:endParaRPr lang="en-US" sz="1400" dirty="0"/>
          </a:p>
          <a:p>
            <a:pPr marL="177800" indent="-177800">
              <a:spcAft>
                <a:spcPts val="500"/>
              </a:spcAft>
              <a:buSzPct val="100000"/>
              <a:buChar char="•"/>
            </a:pPr>
            <a:r>
              <a:rPr lang="en-US" sz="1400" dirty="0">
                <a:solidFill>
                  <a:schemeClr val="bg1"/>
                </a:solidFill>
              </a:rPr>
              <a:t>WhatsApp channel, portal links</a:t>
            </a:r>
            <a:endParaRPr lang="en-US" sz="1400" dirty="0"/>
          </a:p>
        </p:txBody>
      </p:sp>
      <p:sp>
        <p:nvSpPr>
          <p:cNvPr id="15" name="Text 10"/>
          <p:cNvSpPr txBox="1"/>
          <p:nvPr/>
        </p:nvSpPr>
        <p:spPr>
          <a:xfrm>
            <a:off x="548640" y="4206240"/>
            <a:ext cx="5486400" cy="457200"/>
          </a:xfrm>
          <a:prstGeom prst="rect">
            <a:avLst/>
          </a:prstGeom>
          <a:noFill/>
          <a:ln/>
        </p:spPr>
        <p:txBody>
          <a:bodyPr wrap="square" lIns="0" tIns="0" rIns="0" bIns="0" rtlCol="0" anchor="t"/>
          <a:lstStyle/>
          <a:p>
            <a:pPr indent="0" marL="0">
              <a:buNone/>
            </a:pPr>
            <a:r>
              <a:rPr lang="en-US" sz="2400" b="1" dirty="0">
                <a:solidFill>
                  <a:schemeClr val="bg1"/>
                </a:solidFill>
              </a:rPr>
              <a:t>Thank you. Questions?</a:t>
            </a:r>
            <a:endParaRPr lang="en-US" sz="2400" dirty="0"/>
          </a:p>
        </p:txBody>
      </p:sp>
      <p:sp>
        <p:nvSpPr>
          <p:cNvPr id="16" name="Text 11"/>
          <p:cNvSpPr txBox="1"/>
          <p:nvPr/>
        </p:nvSpPr>
        <p:spPr>
          <a:xfrm>
            <a:off x="5852160" y="4279392"/>
            <a:ext cx="2743200" cy="365760"/>
          </a:xfrm>
          <a:prstGeom prst="rect">
            <a:avLst/>
          </a:prstGeom>
          <a:noFill/>
          <a:ln/>
        </p:spPr>
        <p:txBody>
          <a:bodyPr wrap="square" lIns="0" tIns="0" rIns="0" bIns="0" rtlCol="0" anchor="t"/>
          <a:lstStyle/>
          <a:p>
            <a:pPr algn="r" indent="0" marL="0">
              <a:buNone/>
            </a:pPr>
            <a:r>
              <a:rPr lang="en-US" sz="1200" dirty="0">
                <a:solidFill>
                  <a:schemeClr val="bg1"/>
                </a:solidFill>
              </a:rPr>
              <a:t>Live demo: http://localhost:3000</a:t>
            </a:r>
            <a:endParaRPr lang="en-US" sz="1200" dirty="0"/>
          </a:p>
        </p:txBody>
      </p:sp>
      <p:sp>
        <p:nvSpPr>
          <p:cNvPr id="25" name="Slide Number Placeholder 0"/>
          <p:cNvSpPr>
            <a:spLocks noGrp="1"/>
          </p:cNvSpPr>
          <p:nvPr>
            <p:ph type="sldNum" sz="quarter" idx="4294967295"/>
          </p:nvPr>
        </p:nvSpPr>
        <p:spPr>
          <a:xfrm>
            <a:off x="8138160" y="4754880"/>
            <a:ext cx="457200" cy="219456"/>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1"/>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EBSU Enquiry Bot">
  <a:themeElements>
    <a:clrScheme name="EBSU Enquiry Bot">
      <a:dk1>
        <a:srgbClr val="24201C"/>
      </a:dk1>
      <a:lt1>
        <a:srgbClr val="FFFDF9"/>
      </a:lt1>
      <a:dk2>
        <a:srgbClr val="5C544C"/>
      </a:dk2>
      <a:lt2>
        <a:srgbClr val="F4EFE8"/>
      </a:lt2>
      <a:accent1>
        <a:srgbClr val="C44A1F"/>
      </a:accent1>
      <a:accent2>
        <a:srgbClr val="E8613C"/>
      </a:accent2>
      <a:accent3>
        <a:srgbClr val="A63D17"/>
      </a:accent3>
      <a:accent4>
        <a:srgbClr val="FCE8DF"/>
      </a:accent4>
      <a:accent5>
        <a:srgbClr val="DCD2C5"/>
      </a:accent5>
      <a:accent6>
        <a:srgbClr val="2F6B4F"/>
      </a:accent6>
      <a:hlink>
        <a:srgbClr val="A63D17"/>
      </a:hlink>
      <a:folHlink>
        <a:srgbClr val="6F665D"/>
      </a:folHlink>
    </a:clrScheme>
    <a:fontScheme name="EBSU Enquiry Bo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EBSU Enquiry Bot: project defense</dc:title>
  <dc:subject>Design and Implementation of a Web-Based AI-Powered Chatbot for Student Enquiry Services in Ebonyi State University, Abakaliki</dc:subject>
  <dc:creator>[Student name]</dc:creator>
  <cp:lastModifiedBy>[Student name]</cp:lastModifiedBy>
  <cp:revision>1</cp:revision>
  <dcterms:created xsi:type="dcterms:W3CDTF">2026-10-10T01:10:54Z</dcterms:created>
  <dcterms:modified xsi:type="dcterms:W3CDTF">2026-10-10T01:10:54Z</dcterms:modified>
</cp:coreProperties>
</file>